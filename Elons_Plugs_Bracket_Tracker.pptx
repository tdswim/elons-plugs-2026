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ESPNFAN9699154365</c:v>
                  </c:pt>
                  <c:pt idx="1">
                    <c:v>ESPNFAN8289368577</c:v>
                  </c:pt>
                  <c:pt idx="2">
                    <c:v>inursha</c:v>
                  </c:pt>
                  <c:pt idx="3">
                    <c:v>twnutt</c:v>
                  </c:pt>
                  <c:pt idx="4">
                    <c:v>Paul233365</c:v>
                  </c:pt>
                  <c:pt idx="5">
                    <c:v>Capn'Kirk</c:v>
                  </c:pt>
                  <c:pt idx="6">
                    <c:v>Fizzz3</c:v>
                  </c:pt>
                  <c:pt idx="7">
                    <c:v>TaylorDuran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310</c:v>
                </c:pt>
                <c:pt idx="1">
                  <c:v>350</c:v>
                </c:pt>
                <c:pt idx="2">
                  <c:v>370</c:v>
                </c:pt>
                <c:pt idx="3">
                  <c:v>390</c:v>
                </c:pt>
                <c:pt idx="4">
                  <c:v>400</c:v>
                </c:pt>
                <c:pt idx="5">
                  <c:v>430</c:v>
                </c:pt>
                <c:pt idx="6">
                  <c:v>440</c:v>
                </c:pt>
                <c:pt idx="7">
                  <c:v>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6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0EFE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R64</c:v>
                </c:pt>
              </c:strCache>
            </c:strRef>
          </c:tx>
          <c:spPr>
            <a:solidFill>
              <a:srgbClr val="2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ESPNFAN9699154365</c:v>
                  </c:pt>
                  <c:pt idx="1">
                    <c:v>ESPNFAN8289368577</c:v>
                  </c:pt>
                  <c:pt idx="2">
                    <c:v>inursha</c:v>
                  </c:pt>
                  <c:pt idx="3">
                    <c:v>twnutt</c:v>
                  </c:pt>
                  <c:pt idx="4">
                    <c:v>Paul233365</c:v>
                  </c:pt>
                  <c:pt idx="5">
                    <c:v>Capn'Kirk</c:v>
                  </c:pt>
                  <c:pt idx="6">
                    <c:v>Fizzz3</c:v>
                  </c:pt>
                  <c:pt idx="7">
                    <c:v>TaylorDuran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</c:v>
                </c:pt>
                <c:pt idx="1">
                  <c:v>190</c:v>
                </c:pt>
                <c:pt idx="2">
                  <c:v>210</c:v>
                </c:pt>
                <c:pt idx="3">
                  <c:v>230</c:v>
                </c:pt>
                <c:pt idx="4">
                  <c:v>220</c:v>
                </c:pt>
                <c:pt idx="5">
                  <c:v>250</c:v>
                </c:pt>
                <c:pt idx="6">
                  <c:v>260</c:v>
                </c:pt>
                <c:pt idx="7">
                  <c:v>290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R32</c:v>
                </c:pt>
              </c:strCache>
            </c:strRef>
          </c:tx>
          <c:spPr>
            <a:solidFill>
              <a:srgbClr val="2D8B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ESPNFAN9699154365</c:v>
                  </c:pt>
                  <c:pt idx="1">
                    <c:v>ESPNFAN8289368577</c:v>
                  </c:pt>
                  <c:pt idx="2">
                    <c:v>inursha</c:v>
                  </c:pt>
                  <c:pt idx="3">
                    <c:v>twnutt</c:v>
                  </c:pt>
                  <c:pt idx="4">
                    <c:v>Paul233365</c:v>
                  </c:pt>
                  <c:pt idx="5">
                    <c:v>Capn'Kirk</c:v>
                  </c:pt>
                  <c:pt idx="6">
                    <c:v>Fizzz3</c:v>
                  </c:pt>
                  <c:pt idx="7">
                    <c:v>TaylorDuran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160</c:v>
                </c:pt>
                <c:pt idx="1">
                  <c:v>160</c:v>
                </c:pt>
                <c:pt idx="2">
                  <c:v>160</c:v>
                </c:pt>
                <c:pt idx="3">
                  <c:v>160</c:v>
                </c:pt>
                <c:pt idx="4">
                  <c:v>180</c:v>
                </c:pt>
                <c:pt idx="5">
                  <c:v>180</c:v>
                </c:pt>
                <c:pt idx="6">
                  <c:v>180</c:v>
                </c:pt>
                <c:pt idx="7">
                  <c:v>160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6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0EFE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Picks</c:v>
                </c:pt>
              </c:strCache>
            </c:strRef>
          </c:tx>
          <c:spPr>
            <a:solidFill>
              <a:srgbClr val="2D8B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D8B4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96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D8B4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9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1A4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B3A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Florida</c:v>
                  </c:pt>
                  <c:pt idx="1">
                    <c:v>Auburn</c:v>
                  </c:pt>
                  <c:pt idx="2">
                    <c:v>Houston</c:v>
                  </c:pt>
                  <c:pt idx="3">
                    <c:v>Tennessee</c:v>
                  </c:pt>
                  <c:pt idx="4">
                    <c:v>Arizona</c:v>
                  </c:pt>
                  <c:pt idx="5">
                    <c:v>Duke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0EFE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Favorites</c:v>
                </c:pt>
              </c:strCache>
            </c:strRef>
          </c:tx>
          <c:spPr>
            <a:solidFill>
              <a:srgbClr val="2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Capn'Kirk</c:v>
                  </c:pt>
                  <c:pt idx="1">
                    <c:v>ESPNFAN8289368577</c:v>
                  </c:pt>
                  <c:pt idx="2">
                    <c:v>TaylorDuran</c:v>
                  </c:pt>
                  <c:pt idx="3">
                    <c:v>Fizzz3</c:v>
                  </c:pt>
                  <c:pt idx="4">
                    <c:v>Paul233365</c:v>
                  </c:pt>
                  <c:pt idx="5">
                    <c:v>inursha</c:v>
                  </c:pt>
                  <c:pt idx="6">
                    <c:v>twnutt</c:v>
                  </c:pt>
                  <c:pt idx="7">
                    <c:v>ESPNFAN9699154365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14</c:v>
                </c:pt>
                <c:pt idx="2">
                  <c:v>13</c:v>
                </c:pt>
                <c:pt idx="3">
                  <c:v>12</c:v>
                </c:pt>
                <c:pt idx="4">
                  <c:v>11</c:v>
                </c:pt>
                <c:pt idx="5">
                  <c:v>11</c:v>
                </c:pt>
                <c:pt idx="6">
                  <c:v>10</c:v>
                </c:pt>
                <c:pt idx="7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Underdogs</c:v>
                </c:pt>
              </c:strCache>
            </c:strRef>
          </c:tx>
          <c:spPr>
            <a:solidFill>
              <a:srgbClr val="DC1A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Capn'Kirk</c:v>
                  </c:pt>
                  <c:pt idx="1">
                    <c:v>ESPNFAN8289368577</c:v>
                  </c:pt>
                  <c:pt idx="2">
                    <c:v>TaylorDuran</c:v>
                  </c:pt>
                  <c:pt idx="3">
                    <c:v>Fizzz3</c:v>
                  </c:pt>
                  <c:pt idx="4">
                    <c:v>Paul233365</c:v>
                  </c:pt>
                  <c:pt idx="5">
                    <c:v>inursha</c:v>
                  </c:pt>
                  <c:pt idx="6">
                    <c:v>twnutt</c:v>
                  </c:pt>
                  <c:pt idx="7">
                    <c:v>ESPNFAN9699154365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0EFE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C3C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Elon's Plugs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Madness 2026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 Tournament Challenge  /  Bracket Analytics  /  Mar 22,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Data: Mar 22, 2026, 8:30 PM CT  |  Deck Generated: Mar 22, 2026, 8:30 PM 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participants  ·  Bracket Analytics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0" y="4480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Claude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 Leads by 10 — But Fizzz3 Is Within Striking Distance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155448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1554480" cy="36576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6984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LEADER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25272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170992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121408" y="960120"/>
            <a:ext cx="155448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21408" y="960120"/>
            <a:ext cx="1554480" cy="36576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106984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MARGIN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212848" y="125272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212848" y="170992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Fizzz3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785616" y="960120"/>
            <a:ext cx="155448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85616" y="960120"/>
            <a:ext cx="1554480" cy="36576"/>
          </a:xfrm>
          <a:prstGeom prst="rect">
            <a:avLst/>
          </a:prstGeom>
          <a:solidFill>
            <a:srgbClr val="C4963C"/>
          </a:solidFill>
          <a:ln/>
        </p:spPr>
      </p:sp>
      <p:sp>
        <p:nvSpPr>
          <p:cNvPr id="18" name="Text 16"/>
          <p:cNvSpPr/>
          <p:nvPr/>
        </p:nvSpPr>
        <p:spPr>
          <a:xfrm>
            <a:off x="3877056" y="106984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AVERAGE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877056" y="125272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877056" y="170992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entries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49824" y="960120"/>
            <a:ext cx="155448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960120"/>
            <a:ext cx="1554480" cy="36576"/>
          </a:xfrm>
          <a:prstGeom prst="rect">
            <a:avLst/>
          </a:prstGeom>
          <a:solidFill>
            <a:srgbClr val="6B8E5A"/>
          </a:solidFill>
          <a:ln/>
        </p:spPr>
      </p:sp>
      <p:sp>
        <p:nvSpPr>
          <p:cNvPr id="23" name="Text 21"/>
          <p:cNvSpPr/>
          <p:nvPr/>
        </p:nvSpPr>
        <p:spPr>
          <a:xfrm>
            <a:off x="5541264" y="106984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ALIVE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541264" y="125272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541264" y="170992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eliminated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114032" y="960120"/>
            <a:ext cx="155448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14032" y="960120"/>
            <a:ext cx="1554480" cy="36576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28" name="Text 26"/>
          <p:cNvSpPr/>
          <p:nvPr/>
        </p:nvSpPr>
        <p:spPr>
          <a:xfrm>
            <a:off x="7205472" y="106984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CEILING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205472" y="125272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205472" y="170992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2240280"/>
            <a:ext cx="5303520" cy="27432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233172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56032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 leads at 450 pts (37-8). Fizzz3 trails by only 10 points at 440. However, Capn'Kirk has a higher max ceiling (1790) — the lead is far from safe. Most popular champion pick: Arizona (3 brackets).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43600" y="2240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ENTRIES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943600" y="2514600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44768" y="25146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360920" y="2551176"/>
            <a:ext cx="1400783" cy="164592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8" name="Text 36"/>
          <p:cNvSpPr/>
          <p:nvPr/>
        </p:nvSpPr>
        <p:spPr>
          <a:xfrm>
            <a:off x="8807423" y="251460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pts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943600" y="2807208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144768" y="280720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Fizzz3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360920" y="2843784"/>
            <a:ext cx="1369654" cy="164592"/>
          </a:xfrm>
          <a:prstGeom prst="rect">
            <a:avLst/>
          </a:prstGeom>
          <a:solidFill>
            <a:srgbClr val="C4963C"/>
          </a:solidFill>
          <a:ln/>
        </p:spPr>
      </p:sp>
      <p:sp>
        <p:nvSpPr>
          <p:cNvPr id="42" name="Text 40"/>
          <p:cNvSpPr/>
          <p:nvPr/>
        </p:nvSpPr>
        <p:spPr>
          <a:xfrm>
            <a:off x="8776294" y="280720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pts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943600" y="3099816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44768" y="309981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360920" y="3136392"/>
            <a:ext cx="1338526" cy="164592"/>
          </a:xfrm>
          <a:prstGeom prst="rect">
            <a:avLst/>
          </a:prstGeom>
          <a:solidFill>
            <a:srgbClr val="C4963C"/>
          </a:solidFill>
          <a:ln/>
        </p:spPr>
      </p:sp>
      <p:sp>
        <p:nvSpPr>
          <p:cNvPr id="46" name="Text 44"/>
          <p:cNvSpPr/>
          <p:nvPr/>
        </p:nvSpPr>
        <p:spPr>
          <a:xfrm>
            <a:off x="8745166" y="309981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pts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943600" y="3392424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144768" y="339242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Paul233365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360920" y="3429000"/>
            <a:ext cx="1245140" cy="164592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50" name="Text 48"/>
          <p:cNvSpPr/>
          <p:nvPr/>
        </p:nvSpPr>
        <p:spPr>
          <a:xfrm>
            <a:off x="8651780" y="339242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pts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943600" y="3685032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144768" y="3685032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twnutt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360920" y="3721608"/>
            <a:ext cx="1214012" cy="164592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54" name="Text 52"/>
          <p:cNvSpPr/>
          <p:nvPr/>
        </p:nvSpPr>
        <p:spPr>
          <a:xfrm>
            <a:off x="8620652" y="368503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 pts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5943600" y="3977640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144768" y="3977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inursha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360920" y="4014216"/>
            <a:ext cx="1151755" cy="164592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58" name="Text 56"/>
          <p:cNvSpPr/>
          <p:nvPr/>
        </p:nvSpPr>
        <p:spPr>
          <a:xfrm>
            <a:off x="8558395" y="397764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 pts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943600" y="4270248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144768" y="427024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ESPNFAN8289368577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60920" y="4306824"/>
            <a:ext cx="1089498" cy="164592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62" name="Text 60"/>
          <p:cNvSpPr/>
          <p:nvPr/>
        </p:nvSpPr>
        <p:spPr>
          <a:xfrm>
            <a:off x="8496138" y="427024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pts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943600" y="4562856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144768" y="456285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ESPNFAN9699154365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360920" y="4599432"/>
            <a:ext cx="964984" cy="164592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66" name="Text 64"/>
          <p:cNvSpPr/>
          <p:nvPr/>
        </p:nvSpPr>
        <p:spPr>
          <a:xfrm>
            <a:off x="8371624" y="456285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 pts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Standings — 8 Brackets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554480"/>
                <a:gridCol w="502920"/>
                <a:gridCol w="594360"/>
                <a:gridCol w="548640"/>
                <a:gridCol w="502920"/>
                <a:gridCol w="502920"/>
                <a:gridCol w="1097280"/>
                <a:gridCol w="5943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1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TaylorDuran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37-8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Arizona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Fizzz3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Arizona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Capn'Kirk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Paul233365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twnutt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31-14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Auburn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inursha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ESPNFAN8289368577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28-17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ESPNFAN9699154365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25-20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Tennessee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5720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entries shown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Watch — Where This Race Gets Decided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45720" cy="86868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3327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Fizzz3 Close the 10-Point Gap?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307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Fizzz3 trails with 440 points but has a max ceiling of 1760. Both Fizzz3 and TaylorDuran picked Arizona — the tiebreaker comes down to Round of 32 and later picks.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920240"/>
            <a:ext cx="45720" cy="86868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993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 Has the Highest Ceiling in the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2677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 has a max ceiling of 1790 vs. the leader's 1770. With Duke as champion pick and 95% chalk score, a Duke run could vault Kirk to the top.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880360"/>
            <a:ext cx="45720" cy="86868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953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Pick Concentration Creates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322783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Arizona (3 picks), Duke (2 picks). If Arizona gets upset, 3 of the top 4 brackets take a major hit — creating openings for contrarian picks like Auburn, Houston, and Tennessee.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840480"/>
            <a:ext cx="45720" cy="86868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Math: Later Rounds Are Worth Exponentially More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41879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R64 = 10 pts, R32 = 20 pts, S16 = 40 pts, E8 = 80 pts, F4 = 160 pts, Championship = 320 pts. A single correct championship pick is worth 32 first-round picks.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 Holds a 10-Point Lead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914400"/>
          <a:ext cx="8412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R64 Dominance Drives the Leaderboard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914400"/>
          <a:ext cx="8412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of 8 Brackets Riding on Arizona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914400"/>
          <a:ext cx="4754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303520" y="914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STATUS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303520" y="1280160"/>
            <a:ext cx="338328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03520" y="1280160"/>
            <a:ext cx="45720" cy="45720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0" y="1280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Arizona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picks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03520" y="1810512"/>
            <a:ext cx="338328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303520" y="1810512"/>
            <a:ext cx="45720" cy="457200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181051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Duke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858000" y="181051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picks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772400" y="181051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303520" y="2340864"/>
            <a:ext cx="338328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303520" y="2340864"/>
            <a:ext cx="45720" cy="457200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0" y="23408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858000" y="234086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pick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0" y="234086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303520" y="2871216"/>
            <a:ext cx="338328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303520" y="2871216"/>
            <a:ext cx="45720" cy="457200"/>
          </a:xfrm>
          <a:prstGeom prst="rect">
            <a:avLst/>
          </a:prstGeom>
          <a:solidFill>
            <a:srgbClr val="C4963C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0" y="287121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Auburn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0" y="2871216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pick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772400" y="2871216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303520" y="3401568"/>
            <a:ext cx="338328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303520" y="3401568"/>
            <a:ext cx="45720" cy="457200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0" y="340156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858000" y="340156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pick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772400" y="340156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303520" y="3931920"/>
            <a:ext cx="338328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303520" y="3931920"/>
            <a:ext cx="45720" cy="457200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5" name="Text 32"/>
          <p:cNvSpPr/>
          <p:nvPr/>
        </p:nvSpPr>
        <p:spPr>
          <a:xfrm>
            <a:off x="5486400" y="39319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Tennessee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858000" y="39319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pick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772400" y="39319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4F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4747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Chalk scores, uniqueness, champion risk, and max potential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ESPNFAN9699154365 Is All-In on Tennessee — The Only One in the Group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Path Value: 600 pts remaining | Risk Score = Path Dependency x Champion Exclusivity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BY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SCORE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5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ESPNFAN9699154365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79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Tennessee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1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Paul233365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1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inursha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8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1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Fizzz3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DC1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Arizona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twnutt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49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Auburn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1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TaylorDuran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DC1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Arizona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Capn'Kirk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ESPNFAN8289368577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35040" y="1435608"/>
            <a:ext cx="2361184" cy="256032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9" name="Shape 6"/>
          <p:cNvSpPr/>
          <p:nvPr/>
        </p:nvSpPr>
        <p:spPr>
          <a:xfrm>
            <a:off x="6035040" y="1819656"/>
            <a:ext cx="2275840" cy="256032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10" name="Shape 7"/>
          <p:cNvSpPr/>
          <p:nvPr/>
        </p:nvSpPr>
        <p:spPr>
          <a:xfrm>
            <a:off x="6035040" y="2203704"/>
            <a:ext cx="2105152" cy="256032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11" name="Shape 8"/>
          <p:cNvSpPr/>
          <p:nvPr/>
        </p:nvSpPr>
        <p:spPr>
          <a:xfrm>
            <a:off x="6035040" y="2587752"/>
            <a:ext cx="2019808" cy="256032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2" name="Shape 9"/>
          <p:cNvSpPr/>
          <p:nvPr/>
        </p:nvSpPr>
        <p:spPr>
          <a:xfrm>
            <a:off x="6035040" y="2971800"/>
            <a:ext cx="1906016" cy="256032"/>
          </a:xfrm>
          <a:prstGeom prst="rect">
            <a:avLst/>
          </a:prstGeom>
          <a:solidFill>
            <a:srgbClr val="C4963C"/>
          </a:solidFill>
          <a:ln/>
        </p:spPr>
      </p:sp>
      <p:sp>
        <p:nvSpPr>
          <p:cNvPr id="13" name="Shape 10"/>
          <p:cNvSpPr/>
          <p:nvPr/>
        </p:nvSpPr>
        <p:spPr>
          <a:xfrm>
            <a:off x="6035040" y="3355848"/>
            <a:ext cx="1735328" cy="256032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4" name="Shape 11"/>
          <p:cNvSpPr/>
          <p:nvPr/>
        </p:nvSpPr>
        <p:spPr>
          <a:xfrm>
            <a:off x="6035040" y="3739896"/>
            <a:ext cx="1479296" cy="256032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15" name="Shape 12"/>
          <p:cNvSpPr/>
          <p:nvPr/>
        </p:nvSpPr>
        <p:spPr>
          <a:xfrm>
            <a:off x="6035040" y="4123944"/>
            <a:ext cx="1422400" cy="256032"/>
          </a:xfrm>
          <a:prstGeom prst="rect">
            <a:avLst/>
          </a:prstGeom>
          <a:solidFill>
            <a:srgbClr val="2B3A4A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 Plays It Safest at 95% — ESPNFAN9699154365 Is the Wild Card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Chalk Score (% favorites picked) vs. Uniqueness Score (% contrarian picks)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005840"/>
          <a:ext cx="84124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8 Brackets Still Have a Path to Win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points (solid) vs. maximum potential (total bar) for all brackets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197864"/>
            <a:ext cx="4068825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10" name="Shape 8"/>
          <p:cNvSpPr/>
          <p:nvPr/>
        </p:nvSpPr>
        <p:spPr>
          <a:xfrm>
            <a:off x="2560320" y="1197864"/>
            <a:ext cx="1034447" cy="237744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1" name="Text 9"/>
          <p:cNvSpPr/>
          <p:nvPr/>
        </p:nvSpPr>
        <p:spPr>
          <a:xfrm>
            <a:off x="6766305" y="11430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/ 1770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72768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15727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Fizzz3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0" y="1627632"/>
            <a:ext cx="4045837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15" name="Shape 13"/>
          <p:cNvSpPr/>
          <p:nvPr/>
        </p:nvSpPr>
        <p:spPr>
          <a:xfrm>
            <a:off x="2560320" y="1627632"/>
            <a:ext cx="1011459" cy="237744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6" name="Text 14"/>
          <p:cNvSpPr/>
          <p:nvPr/>
        </p:nvSpPr>
        <p:spPr>
          <a:xfrm>
            <a:off x="6743317" y="157276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/ 1760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002536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200253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2057400"/>
            <a:ext cx="4114800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2057400"/>
            <a:ext cx="988472" cy="237744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200253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/ 1790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2432304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3230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Paul233365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0" y="2487168"/>
            <a:ext cx="3953886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25" name="Shape 23"/>
          <p:cNvSpPr/>
          <p:nvPr/>
        </p:nvSpPr>
        <p:spPr>
          <a:xfrm>
            <a:off x="2560320" y="2487168"/>
            <a:ext cx="919508" cy="237744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26" name="Text 24"/>
          <p:cNvSpPr/>
          <p:nvPr/>
        </p:nvSpPr>
        <p:spPr>
          <a:xfrm>
            <a:off x="6651366" y="243230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/ 1720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2862072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" y="286207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twnutt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60320" y="2916936"/>
            <a:ext cx="3930898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2916936"/>
            <a:ext cx="896521" cy="237744"/>
          </a:xfrm>
          <a:prstGeom prst="rect">
            <a:avLst/>
          </a:prstGeom>
          <a:solidFill>
            <a:srgbClr val="C4963C"/>
          </a:solidFill>
          <a:ln/>
        </p:spPr>
      </p:sp>
      <p:sp>
        <p:nvSpPr>
          <p:cNvPr id="31" name="Text 29"/>
          <p:cNvSpPr/>
          <p:nvPr/>
        </p:nvSpPr>
        <p:spPr>
          <a:xfrm>
            <a:off x="6628378" y="286207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 / 1710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29184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32918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inursha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560320" y="3346704"/>
            <a:ext cx="3884923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35" name="Shape 33"/>
          <p:cNvSpPr/>
          <p:nvPr/>
        </p:nvSpPr>
        <p:spPr>
          <a:xfrm>
            <a:off x="2560320" y="3346704"/>
            <a:ext cx="850545" cy="237744"/>
          </a:xfrm>
          <a:prstGeom prst="rect">
            <a:avLst/>
          </a:prstGeom>
          <a:solidFill>
            <a:srgbClr val="2D8B4E"/>
          </a:solidFill>
          <a:ln/>
        </p:spPr>
      </p:sp>
      <p:sp>
        <p:nvSpPr>
          <p:cNvPr id="36" name="Text 34"/>
          <p:cNvSpPr/>
          <p:nvPr/>
        </p:nvSpPr>
        <p:spPr>
          <a:xfrm>
            <a:off x="6582403" y="32918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 / 1690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3721608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77240" y="372160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ESPNFAN8289368577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560320" y="3776472"/>
            <a:ext cx="3838947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3776472"/>
            <a:ext cx="804570" cy="237744"/>
          </a:xfrm>
          <a:prstGeom prst="rect">
            <a:avLst/>
          </a:prstGeom>
          <a:solidFill>
            <a:srgbClr val="2B3A4A"/>
          </a:solidFill>
          <a:ln/>
        </p:spPr>
      </p:sp>
      <p:sp>
        <p:nvSpPr>
          <p:cNvPr id="41" name="Text 39"/>
          <p:cNvSpPr/>
          <p:nvPr/>
        </p:nvSpPr>
        <p:spPr>
          <a:xfrm>
            <a:off x="6536427" y="372160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/ 1670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151376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77240" y="415137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ESPNFAN9699154365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60320" y="4206240"/>
            <a:ext cx="3746997" cy="237744"/>
          </a:xfrm>
          <a:prstGeom prst="rect">
            <a:avLst/>
          </a:prstGeom>
          <a:solidFill>
            <a:srgbClr val="E8E6E2"/>
          </a:solidFill>
          <a:ln/>
        </p:spPr>
      </p:sp>
      <p:sp>
        <p:nvSpPr>
          <p:cNvPr id="45" name="Shape 43"/>
          <p:cNvSpPr/>
          <p:nvPr/>
        </p:nvSpPr>
        <p:spPr>
          <a:xfrm>
            <a:off x="2560320" y="4206240"/>
            <a:ext cx="712619" cy="23774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44477" y="41513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 / 1630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C3C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C1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bracket race continues.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480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Mar 22, 2026, 8:30 PM CT  ·  ESPN Tournament Challenge  ·  8 entries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0" y="4480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Claude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Elon's Plugs — March Madness 2026 Bracket Tracker</dc:title>
  <dc:subject>PptxGenJS Presentation</dc:subject>
  <dc:creator>Taylor Duran</dc:creator>
  <cp:lastModifiedBy>Taylor Duran</cp:lastModifiedBy>
  <cp:revision>1</cp:revision>
  <dcterms:created xsi:type="dcterms:W3CDTF">2026-03-23T01:31:12Z</dcterms:created>
  <dcterms:modified xsi:type="dcterms:W3CDTF">2026-03-23T01:31:12Z</dcterms:modified>
</cp:coreProperties>
</file>