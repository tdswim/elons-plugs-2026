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R64</c:v>
                </c:pt>
              </c:strCache>
            </c:strRef>
          </c:tx>
          <c:spPr>
            <a:solidFill>
              <a:srgbClr val="2B4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ESPNFAN969</c:v>
                  </c:pt>
                  <c:pt idx="1">
                    <c:v>ESPNFAN828</c:v>
                  </c:pt>
                  <c:pt idx="2">
                    <c:v>inursha</c:v>
                  </c:pt>
                  <c:pt idx="3">
                    <c:v>twnutt</c:v>
                  </c:pt>
                  <c:pt idx="4">
                    <c:v>Paul233365</c:v>
                  </c:pt>
                  <c:pt idx="5">
                    <c:v>Capn'Kirk</c:v>
                  </c:pt>
                  <c:pt idx="6">
                    <c:v>Fizzz3</c:v>
                  </c:pt>
                  <c:pt idx="7">
                    <c:v>TaylorDuran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</c:v>
                </c:pt>
                <c:pt idx="1">
                  <c:v>190</c:v>
                </c:pt>
                <c:pt idx="2">
                  <c:v>210</c:v>
                </c:pt>
                <c:pt idx="3">
                  <c:v>230</c:v>
                </c:pt>
                <c:pt idx="4">
                  <c:v>220</c:v>
                </c:pt>
                <c:pt idx="5">
                  <c:v>250</c:v>
                </c:pt>
                <c:pt idx="6">
                  <c:v>260</c:v>
                </c:pt>
                <c:pt idx="7">
                  <c:v>290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R32</c:v>
                </c:pt>
              </c:strCache>
            </c:strRef>
          </c:tx>
          <c:spPr>
            <a:solidFill>
              <a:srgbClr val="2D8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ESPNFAN969</c:v>
                  </c:pt>
                  <c:pt idx="1">
                    <c:v>ESPNFAN828</c:v>
                  </c:pt>
                  <c:pt idx="2">
                    <c:v>inursha</c:v>
                  </c:pt>
                  <c:pt idx="3">
                    <c:v>twnutt</c:v>
                  </c:pt>
                  <c:pt idx="4">
                    <c:v>Paul233365</c:v>
                  </c:pt>
                  <c:pt idx="5">
                    <c:v>Capn'Kirk</c:v>
                  </c:pt>
                  <c:pt idx="6">
                    <c:v>Fizzz3</c:v>
                  </c:pt>
                  <c:pt idx="7">
                    <c:v>TaylorDuran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160</c:v>
                </c:pt>
                <c:pt idx="1">
                  <c:v>160</c:v>
                </c:pt>
                <c:pt idx="2">
                  <c:v>160</c:v>
                </c:pt>
                <c:pt idx="3">
                  <c:v>160</c:v>
                </c:pt>
                <c:pt idx="4">
                  <c:v>180</c:v>
                </c:pt>
                <c:pt idx="5">
                  <c:v>180</c:v>
                </c:pt>
                <c:pt idx="6">
                  <c:v>180</c:v>
                </c:pt>
                <c:pt idx="7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6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0EF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14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Elon's Plugs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Madness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 Tournament Challenge  /  Bracket Analytics  /  Mar 22,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Data: Mar 22, 2026, 8:30 PM CT  |  Deck Generated: Mar 22, 2026, 8:30 PM 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participants  ·  Bracket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 Leads by 10 — But Fizzz3 Is Within Striking Distance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1554480" cy="36576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24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LEADER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30552" y="9144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914400"/>
            <a:ext cx="1554480" cy="36576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13" name="Text 11"/>
          <p:cNvSpPr/>
          <p:nvPr/>
        </p:nvSpPr>
        <p:spPr>
          <a:xfrm>
            <a:off x="2221992" y="1024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MARGIN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221992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221992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Fizzz3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03904" y="9144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03904" y="914400"/>
            <a:ext cx="1554480" cy="36576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344" y="1024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AVERAGE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95344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95344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256" y="9144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914400"/>
            <a:ext cx="1554480" cy="36576"/>
          </a:xfrm>
          <a:prstGeom prst="rect">
            <a:avLst/>
          </a:prstGeom>
          <a:solidFill>
            <a:srgbClr val="6B8E5A"/>
          </a:solidFill>
          <a:ln/>
        </p:spPr>
      </p:sp>
      <p:sp>
        <p:nvSpPr>
          <p:cNvPr id="23" name="Text 21"/>
          <p:cNvSpPr/>
          <p:nvPr/>
        </p:nvSpPr>
        <p:spPr>
          <a:xfrm>
            <a:off x="5568696" y="1024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PICKS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568696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68696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busted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50608" y="9144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914400"/>
            <a:ext cx="1554480" cy="36576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28" name="Text 26"/>
          <p:cNvSpPr/>
          <p:nvPr/>
        </p:nvSpPr>
        <p:spPr>
          <a:xfrm>
            <a:off x="7242048" y="1024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CEILING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42048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42048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Capn'Kirk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194560"/>
            <a:ext cx="5120640" cy="91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2494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24505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 leads at 450 pts (37-8). Fizzz3 trails by only 10 points at 440. With 1320 points still up for grabs, any contender could overtake the lead in later rounds. Most popular champion pick: Arizona (2 brackets).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194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52160" y="24688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0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69480" y="2505456"/>
            <a:ext cx="1313234" cy="182880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38" name="Text 36"/>
          <p:cNvSpPr/>
          <p:nvPr/>
        </p:nvSpPr>
        <p:spPr>
          <a:xfrm>
            <a:off x="8619290" y="2468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pts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52160" y="2779776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5040" y="27797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Fizzz3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69480" y="2816352"/>
            <a:ext cx="1284051" cy="182880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42" name="Text 40"/>
          <p:cNvSpPr/>
          <p:nvPr/>
        </p:nvSpPr>
        <p:spPr>
          <a:xfrm>
            <a:off x="8590107" y="27797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pts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52160" y="30906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35040" y="30906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Capn'Kirk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269480" y="3127248"/>
            <a:ext cx="1254868" cy="182880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46" name="Text 44"/>
          <p:cNvSpPr/>
          <p:nvPr/>
        </p:nvSpPr>
        <p:spPr>
          <a:xfrm>
            <a:off x="8560924" y="30906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pts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52160" y="340156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35040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Paul233365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269480" y="3438144"/>
            <a:ext cx="1167319" cy="182880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50" name="Text 48"/>
          <p:cNvSpPr/>
          <p:nvPr/>
        </p:nvSpPr>
        <p:spPr>
          <a:xfrm>
            <a:off x="8473375" y="34015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pts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852160" y="3712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35040" y="37124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twnutt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269480" y="3749040"/>
            <a:ext cx="1138136" cy="182880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54" name="Text 52"/>
          <p:cNvSpPr/>
          <p:nvPr/>
        </p:nvSpPr>
        <p:spPr>
          <a:xfrm>
            <a:off x="8444192" y="3712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pts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52160" y="40233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35040" y="4023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inursha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269480" y="4059936"/>
            <a:ext cx="1079770" cy="182880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58" name="Text 56"/>
          <p:cNvSpPr/>
          <p:nvPr/>
        </p:nvSpPr>
        <p:spPr>
          <a:xfrm>
            <a:off x="8385826" y="40233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pts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52160" y="4334256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35040" y="4334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ESPNFAN828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269480" y="4370832"/>
            <a:ext cx="1021404" cy="182880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62" name="Text 60"/>
          <p:cNvSpPr/>
          <p:nvPr/>
        </p:nvSpPr>
        <p:spPr>
          <a:xfrm>
            <a:off x="8327460" y="43342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pts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Standings — 8 Brackets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508760"/>
                <a:gridCol w="502920"/>
                <a:gridCol w="548640"/>
                <a:gridCol w="548640"/>
                <a:gridCol w="457200"/>
                <a:gridCol w="457200"/>
                <a:gridCol w="109728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B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1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TaylorDuran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Arizona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1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Fizzz3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Arizona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1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Capn'Kirk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Paul233365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twnutt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Auburn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inursha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ESPNFAN828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ESPNFAN969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Tennessee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8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— Where This Race Gets Decided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45720" cy="74980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2354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Fizzz3 Close the 10-Point Gap?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16128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Fizzz3 trails with 440 points but has a max ceiling of 1760. The gap narrows if their champion (Arizona) advances.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45720" cy="74980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74650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Capn'Kirk Has the Highest Ceiling in the Group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198424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Capn'Kirk has a max ceiling of 1790 vs. the leader's 1770. No one else can match that ceiling, but a few well-timed upsets could close the gap fast.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14600"/>
            <a:ext cx="45720" cy="74980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56946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Brackets Have a Unique Champion Pick — Who's Next?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807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picks: Arizona (2), Duke (2). Florida, Auburn, Houston, Tennessee each picked once. If favorites get knocked out, contrarian pickers gain.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37560"/>
            <a:ext cx="45720" cy="74980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39242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Tie at 390 Points Makes the Middle Wide Open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6301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Paul233365, twnutt are deadlocked. The tiebreaker will come down to who nailed the higher-value later rounds — Sweet 16 picks are worth 2x R64.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60520"/>
            <a:ext cx="45720" cy="74980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21538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Math: Later Rounds Are Worth Exponentially More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4531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R64 = 10 pts, R32 = 20 pts, S16 = 40 pts, E8 = 80 pts, F4 = 160 pts, Championship = 320 pts. A single correct championship pick is worth 32 first-round picks.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 Holds a 10-Point Lead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ESPNFAN969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060704"/>
            <a:ext cx="3317132" cy="256032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8" name="Text 6"/>
          <p:cNvSpPr/>
          <p:nvPr/>
        </p:nvSpPr>
        <p:spPr>
          <a:xfrm>
            <a:off x="5584844" y="1005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ESPNFAN828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517904"/>
            <a:ext cx="3745149" cy="256032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11" name="Text 9"/>
          <p:cNvSpPr/>
          <p:nvPr/>
        </p:nvSpPr>
        <p:spPr>
          <a:xfrm>
            <a:off x="6012861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inursha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1975104"/>
            <a:ext cx="3959157" cy="256032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14" name="Text 12"/>
          <p:cNvSpPr/>
          <p:nvPr/>
        </p:nvSpPr>
        <p:spPr>
          <a:xfrm>
            <a:off x="6226869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twnutt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2432304"/>
            <a:ext cx="4173166" cy="256032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0878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Paul233365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2889504"/>
            <a:ext cx="4280170" cy="256032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20" name="Text 18"/>
          <p:cNvSpPr/>
          <p:nvPr/>
        </p:nvSpPr>
        <p:spPr>
          <a:xfrm>
            <a:off x="6547882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Capn'Kirk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3346704"/>
            <a:ext cx="4601183" cy="256032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23" name="Text 21"/>
          <p:cNvSpPr/>
          <p:nvPr/>
        </p:nvSpPr>
        <p:spPr>
          <a:xfrm>
            <a:off x="6868895" y="3291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Fizzz3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3803904"/>
            <a:ext cx="4708187" cy="256032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6975899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4261104"/>
            <a:ext cx="4815191" cy="256032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29" name="Text 27"/>
          <p:cNvSpPr/>
          <p:nvPr/>
        </p:nvSpPr>
        <p:spPr>
          <a:xfrm>
            <a:off x="7082903" y="4206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R64 Dominance Drives the Leaderboard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1440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8 Brackets Riding on Arizona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170432"/>
            <a:ext cx="1158240" cy="27432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8" name="Text 6"/>
          <p:cNvSpPr/>
          <p:nvPr/>
        </p:nvSpPr>
        <p:spPr>
          <a:xfrm>
            <a:off x="2877312" y="10972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Auburn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719072"/>
            <a:ext cx="1158240" cy="274320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11" name="Text 9"/>
          <p:cNvSpPr/>
          <p:nvPr/>
        </p:nvSpPr>
        <p:spPr>
          <a:xfrm>
            <a:off x="2877312" y="1645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2267712"/>
            <a:ext cx="115824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2877312" y="2194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2816352"/>
            <a:ext cx="1158240" cy="274320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17" name="Text 15"/>
          <p:cNvSpPr/>
          <p:nvPr/>
        </p:nvSpPr>
        <p:spPr>
          <a:xfrm>
            <a:off x="2877312" y="2743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3364992"/>
            <a:ext cx="2316480" cy="27432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0" name="Text 18"/>
          <p:cNvSpPr/>
          <p:nvPr/>
        </p:nvSpPr>
        <p:spPr>
          <a:xfrm>
            <a:off x="4035552" y="3291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0" y="3913632"/>
            <a:ext cx="2316480" cy="274320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23" name="Text 21"/>
          <p:cNvSpPr/>
          <p:nvPr/>
        </p:nvSpPr>
        <p:spPr>
          <a:xfrm>
            <a:off x="4035552" y="3840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234440"/>
            <a:ext cx="3383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1234440"/>
            <a:ext cx="45720" cy="438912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2344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123444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12344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0" y="1746504"/>
            <a:ext cx="3383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0" y="1746504"/>
            <a:ext cx="45720" cy="438912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17465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174650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picks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174650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03520" y="2258568"/>
            <a:ext cx="3383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0" y="2258568"/>
            <a:ext cx="45720" cy="43891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225856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25856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225856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0" y="2770632"/>
            <a:ext cx="3383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03520" y="2770632"/>
            <a:ext cx="45720" cy="438912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277063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Auburn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277063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27706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0" y="3282696"/>
            <a:ext cx="3383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03520" y="3282696"/>
            <a:ext cx="45720" cy="43891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0" y="32826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66560" y="328269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80960" y="328269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0" y="3794760"/>
            <a:ext cx="3383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303520" y="3794760"/>
            <a:ext cx="45720" cy="438912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0" y="37947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66560" y="379476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pick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80960" y="37947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228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Champion Picks Still in the Hunt — No One Is Busted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points (solid) vs. maximum potential (total bar). All 8 brackets shown.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TaylorDuran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152144"/>
            <a:ext cx="3797570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1152144"/>
            <a:ext cx="965484" cy="237744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1" name="Text 9"/>
          <p:cNvSpPr/>
          <p:nvPr/>
        </p:nvSpPr>
        <p:spPr>
          <a:xfrm>
            <a:off x="6284738" y="1097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/ 1770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51790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517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Fizzz3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572768"/>
            <a:ext cx="3776114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1572768"/>
            <a:ext cx="944029" cy="237744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282" y="15179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/ 1760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193852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Capn'Kirk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1993392"/>
            <a:ext cx="3840480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1993392"/>
            <a:ext cx="922573" cy="237744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1938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/ 1790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3591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359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Paul233365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414016"/>
            <a:ext cx="3690294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0" y="2414016"/>
            <a:ext cx="858208" cy="237744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26" name="Text 24"/>
          <p:cNvSpPr/>
          <p:nvPr/>
        </p:nvSpPr>
        <p:spPr>
          <a:xfrm>
            <a:off x="6177462" y="2359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/ 1720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77977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27797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twnutt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2834640"/>
            <a:ext cx="3668838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30" name="Shape 28"/>
          <p:cNvSpPr/>
          <p:nvPr/>
        </p:nvSpPr>
        <p:spPr>
          <a:xfrm>
            <a:off x="2377440" y="2834640"/>
            <a:ext cx="836753" cy="237744"/>
          </a:xfrm>
          <a:prstGeom prst="rect">
            <a:avLst/>
          </a:prstGeom>
          <a:solidFill>
            <a:srgbClr val="C4963C"/>
          </a:solidFill>
          <a:ln/>
        </p:spPr>
      </p:sp>
      <p:sp>
        <p:nvSpPr>
          <p:cNvPr id="31" name="Text 29"/>
          <p:cNvSpPr/>
          <p:nvPr/>
        </p:nvSpPr>
        <p:spPr>
          <a:xfrm>
            <a:off x="6156006" y="27797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/ 1710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2004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inursha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3255264"/>
            <a:ext cx="3625928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35" name="Shape 33"/>
          <p:cNvSpPr/>
          <p:nvPr/>
        </p:nvSpPr>
        <p:spPr>
          <a:xfrm>
            <a:off x="2377440" y="3255264"/>
            <a:ext cx="793842" cy="23774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6" name="Text 34"/>
          <p:cNvSpPr/>
          <p:nvPr/>
        </p:nvSpPr>
        <p:spPr>
          <a:xfrm>
            <a:off x="6113096" y="32004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/ 1690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362102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" y="36210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ESPNFAN828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3675888"/>
            <a:ext cx="3583018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3675888"/>
            <a:ext cx="750932" cy="237744"/>
          </a:xfrm>
          <a:prstGeom prst="rect">
            <a:avLst/>
          </a:prstGeom>
          <a:solidFill>
            <a:srgbClr val="2B4C6F"/>
          </a:solidFill>
          <a:ln/>
        </p:spPr>
      </p:sp>
      <p:sp>
        <p:nvSpPr>
          <p:cNvPr id="41" name="Text 39"/>
          <p:cNvSpPr/>
          <p:nvPr/>
        </p:nvSpPr>
        <p:spPr>
          <a:xfrm>
            <a:off x="6070186" y="36210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/ 1670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0416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7240" y="40416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ESPNFAN969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4096512"/>
            <a:ext cx="3497197" cy="237744"/>
          </a:xfrm>
          <a:prstGeom prst="rect">
            <a:avLst/>
          </a:prstGeom>
          <a:solidFill>
            <a:srgbClr val="E8E6E2"/>
          </a:solidFill>
          <a:ln/>
        </p:spPr>
      </p:sp>
      <p:sp>
        <p:nvSpPr>
          <p:cNvPr id="45" name="Shape 43"/>
          <p:cNvSpPr/>
          <p:nvPr/>
        </p:nvSpPr>
        <p:spPr>
          <a:xfrm>
            <a:off x="2377440" y="4096512"/>
            <a:ext cx="665111" cy="23774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6" name="Text 44"/>
          <p:cNvSpPr/>
          <p:nvPr/>
        </p:nvSpPr>
        <p:spPr>
          <a:xfrm>
            <a:off x="5984365" y="40416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/ 1630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14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C1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On.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bracket race continues.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Mar 22, 2026, 8:30 PM CT  ·  ESPN Tournament Challenge  ·  8 entries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tdswim.github.io/Elons-Plugs-2026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Elon's Plugs — March Madness 2026 Bracket Tracker</dc:title>
  <dc:subject>PptxGenJS Presentation</dc:subject>
  <dc:creator>Taylor Duran</dc:creator>
  <cp:lastModifiedBy>Taylor Duran</cp:lastModifiedBy>
  <cp:revision>1</cp:revision>
  <dcterms:created xsi:type="dcterms:W3CDTF">2026-03-23T17:51:35Z</dcterms:created>
  <dcterms:modified xsi:type="dcterms:W3CDTF">2026-03-23T17:51:35Z</dcterms:modified>
</cp:coreProperties>
</file>