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R64</c:v>
                </c:pt>
              </c:strCache>
            </c:strRef>
          </c:tx>
          <c:spPr>
            <a:solidFill>
              <a:srgbClr val="2B5A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C2C2C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TaylorDuran</c:v>
                  </c:pt>
                  <c:pt idx="1">
                    <c:v>Capn'Kirk</c:v>
                  </c:pt>
                  <c:pt idx="2">
                    <c:v>Fizzz3</c:v>
                  </c:pt>
                  <c:pt idx="3">
                    <c:v>Paul233365</c:v>
                  </c:pt>
                  <c:pt idx="4">
                    <c:v>twnutt</c:v>
                  </c:pt>
                  <c:pt idx="5">
                    <c:v>inursha</c:v>
                  </c:pt>
                  <c:pt idx="6">
                    <c:v>ESPNFAN8289368577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290</c:v>
                </c:pt>
                <c:pt idx="1">
                  <c:v>250</c:v>
                </c:pt>
                <c:pt idx="2">
                  <c:v>260</c:v>
                </c:pt>
                <c:pt idx="3">
                  <c:v>240</c:v>
                </c:pt>
                <c:pt idx="4">
                  <c:v>230</c:v>
                </c:pt>
                <c:pt idx="5">
                  <c:v>200</c:v>
                </c:pt>
                <c:pt idx="6">
                  <c:v>240</c:v>
                </c:pt>
                <c:pt idx="7">
                  <c:v>230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R32</c:v>
                </c:pt>
              </c:strCache>
            </c:strRef>
          </c:tx>
          <c:spPr>
            <a:solidFill>
              <a:srgbClr val="D4A57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C2C2C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TaylorDuran</c:v>
                  </c:pt>
                  <c:pt idx="1">
                    <c:v>Capn'Kirk</c:v>
                  </c:pt>
                  <c:pt idx="2">
                    <c:v>Fizzz3</c:v>
                  </c:pt>
                  <c:pt idx="3">
                    <c:v>Paul233365</c:v>
                  </c:pt>
                  <c:pt idx="4">
                    <c:v>twnutt</c:v>
                  </c:pt>
                  <c:pt idx="5">
                    <c:v>inursha</c:v>
                  </c:pt>
                  <c:pt idx="6">
                    <c:v>ESPNFAN8289368577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160</c:v>
                </c:pt>
                <c:pt idx="1">
                  <c:v>180</c:v>
                </c:pt>
                <c:pt idx="2">
                  <c:v>160</c:v>
                </c:pt>
                <c:pt idx="3">
                  <c:v>160</c:v>
                </c:pt>
                <c:pt idx="4">
                  <c:v>160</c:v>
                </c:pt>
                <c:pt idx="5">
                  <c:v>140</c:v>
                </c:pt>
                <c:pt idx="6">
                  <c:v>100</c:v>
                </c:pt>
                <c:pt idx="7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C2C2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Elons Plugs 2026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Madness 2026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ESPN Tournament Challenge / Bracket Analytics / Mar 22, 2026 7:30 PM 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8 participants / Bracket Analytics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4805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Built with Claude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68680"/>
            <a:ext cx="73152" cy="54864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LEADER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0312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868680"/>
            <a:ext cx="73152" cy="54864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MARGIN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24028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868680"/>
            <a:ext cx="73152" cy="5486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5" name="Text 13"/>
          <p:cNvSpPr/>
          <p:nvPr/>
        </p:nvSpPr>
        <p:spPr>
          <a:xfrm>
            <a:off x="397764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AVERAGE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97764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57784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77840" y="868680"/>
            <a:ext cx="73152" cy="54864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ALIVE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71500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868680"/>
            <a:ext cx="73152" cy="548640"/>
          </a:xfrm>
          <a:prstGeom prst="rect">
            <a:avLst/>
          </a:prstGeom>
          <a:solidFill>
            <a:srgbClr val="1E3A4B"/>
          </a:solidFill>
          <a:ln/>
        </p:spPr>
      </p:sp>
      <p:sp>
        <p:nvSpPr>
          <p:cNvPr id="23" name="Text 21"/>
          <p:cNvSpPr/>
          <p:nvPr/>
        </p:nvSpPr>
        <p:spPr>
          <a:xfrm>
            <a:off x="745236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CEILING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45236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1890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5760" y="1600200"/>
            <a:ext cx="8412480" cy="731520"/>
          </a:xfrm>
          <a:prstGeom prst="rect">
            <a:avLst/>
          </a:prstGeom>
          <a:solidFill>
            <a:srgbClr val="FFFAF5"/>
          </a:solidFill>
          <a:ln w="12700">
            <a:solidFill>
              <a:srgbClr val="E0D5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184708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 clings to a narrow 20-point lead with Arizona as champion pick. Capn'Kirk surged in R32 and is breathing down his neck with Duke. The Sweet 16 will be decisive.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7 LEADERBOARD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8412480" cy="1828800"/>
        </p:xfrm>
        <a:graphic>
          <a:graphicData uri="http://schemas.openxmlformats.org/drawingml/2006/table">
            <a:tbl>
              <a:tblPr/>
              <a:tblGrid>
                <a:gridCol w="548640"/>
                <a:gridCol w="41148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PERCENTILE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450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97.5%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430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88.0%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79.9%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61.0%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21.1%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21.1%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Standings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731520"/>
                <a:gridCol w="731520"/>
                <a:gridCol w="548640"/>
                <a:gridCol w="548640"/>
                <a:gridCol w="2286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MAX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CHAMPION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450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430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1760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1770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1670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Watch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 vs Capn'Kirk Battle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20-point gap after Capn'Kirk surged in R32. Sweet 16 picks will determine if TaylorDuran holds or gets overtaken.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Concentration Risk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019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Arizona and Duke dominate (6 picks total). Heavy reliance on these teams could consolidate points at the top.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Mid-Pack Clustering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334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5-8 are separated by only 30 points. Sweet 16 results will likely shuffle the lower half significantly.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 vs Contrarian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Chalky brackets (Capn'Kirk: 95%) vs unique picks (TaylorDuran: 81%) both working so far—chalk winners have edge.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Leaderboard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64008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96012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450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03120" y="1371600"/>
            <a:ext cx="611632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0" name="Text 8"/>
          <p:cNvSpPr/>
          <p:nvPr/>
        </p:nvSpPr>
        <p:spPr>
          <a:xfrm>
            <a:off x="8310880" y="134416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430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1755648"/>
            <a:ext cx="597408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3" name="Text 11"/>
          <p:cNvSpPr/>
          <p:nvPr/>
        </p:nvSpPr>
        <p:spPr>
          <a:xfrm>
            <a:off x="8168640" y="172821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420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103120" y="2139696"/>
            <a:ext cx="56896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6" name="Text 14"/>
          <p:cNvSpPr/>
          <p:nvPr/>
        </p:nvSpPr>
        <p:spPr>
          <a:xfrm>
            <a:off x="7884160" y="211226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523744"/>
            <a:ext cx="55473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Text 17"/>
          <p:cNvSpPr/>
          <p:nvPr/>
        </p:nvSpPr>
        <p:spPr>
          <a:xfrm>
            <a:off x="7741920" y="249631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390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103120" y="2907792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2" name="Text 20"/>
          <p:cNvSpPr/>
          <p:nvPr/>
        </p:nvSpPr>
        <p:spPr>
          <a:xfrm>
            <a:off x="7030720" y="288036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340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03120" y="3291840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5" name="Text 23"/>
          <p:cNvSpPr/>
          <p:nvPr/>
        </p:nvSpPr>
        <p:spPr>
          <a:xfrm>
            <a:off x="7030720" y="326440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340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103120" y="3675888"/>
            <a:ext cx="440944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8" name="Text 26"/>
          <p:cNvSpPr/>
          <p:nvPr/>
        </p:nvSpPr>
        <p:spPr>
          <a:xfrm>
            <a:off x="6604000" y="364845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310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Round-by-Round Breakdown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" y="658368"/>
            <a:ext cx="77724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274320" y="822960"/>
          <a:ext cx="8412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645920" y="4754880"/>
            <a:ext cx="914" cy="914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97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Arizona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20240" y="1170432"/>
            <a:ext cx="1920240" cy="22860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7" name="Text 5"/>
          <p:cNvSpPr/>
          <p:nvPr/>
        </p:nvSpPr>
        <p:spPr>
          <a:xfrm>
            <a:off x="3931920" y="1097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Duke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20240" y="1901952"/>
            <a:ext cx="3200400" cy="22860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8288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109728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1097280"/>
            <a:ext cx="73152" cy="164592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3" name="Text 11"/>
          <p:cNvSpPr/>
          <p:nvPr/>
        </p:nvSpPr>
        <p:spPr>
          <a:xfrm>
            <a:off x="5166360" y="12344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C2C"/>
                </a:solidFill>
              </a:rPr>
              <a:t>ARIZONA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3 Picks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663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78% avg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86600" y="109728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1097280"/>
            <a:ext cx="73152" cy="1645920"/>
          </a:xfrm>
          <a:prstGeom prst="rect">
            <a:avLst/>
          </a:prstGeom>
          <a:solidFill>
            <a:srgbClr val="1E3A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0" y="12344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C2C"/>
                </a:solidFill>
              </a:rPr>
              <a:t>DUKE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2376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5 Picks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237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82% avg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5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E"/>
                </a:solidFill>
              </a:rPr>
              <a:t>Contrarian analysis, pick similarity, chalk scores, and swing games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E"/>
                </a:solidFill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Contrarian Picks — Risk vs Reward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4389120" cy="347472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822960"/>
                <a:gridCol w="1005840"/>
              </a:tblGrid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GROUP 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RESULT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Northern Iowa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Hawai'i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Kennesaw State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Louisville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South Florida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UCLA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UNDECIDED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Nebraska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CORRECT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VCU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Texas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CORRECT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Texas Tech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UNDECIDED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144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ACCURACY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663440" y="12344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Round of 64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126480" y="123444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9" name="Shape 6"/>
          <p:cNvSpPr/>
          <p:nvPr/>
        </p:nvSpPr>
        <p:spPr>
          <a:xfrm>
            <a:off x="6126480" y="1234440"/>
            <a:ext cx="0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12344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0%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4663440" y="15544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Round of 32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26480" y="155448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Shape 10"/>
          <p:cNvSpPr/>
          <p:nvPr/>
        </p:nvSpPr>
        <p:spPr>
          <a:xfrm>
            <a:off x="6126480" y="1554480"/>
            <a:ext cx="1703527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0" y="15544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69%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663440" y="18745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Sweet 16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26480" y="187452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7" name="Shape 14"/>
          <p:cNvSpPr/>
          <p:nvPr/>
        </p:nvSpPr>
        <p:spPr>
          <a:xfrm>
            <a:off x="6126480" y="1874520"/>
            <a:ext cx="1629461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0" y="18745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66%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4663440" y="21945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Elite 8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126480" y="219456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26480" y="2194560"/>
            <a:ext cx="1036930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0" y="21945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42%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663440" y="251460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Final Four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126480" y="251460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126480" y="2514600"/>
            <a:ext cx="666598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0" y="25146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27%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4663440" y="28346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Championship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126480" y="283464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9" name="Shape 26"/>
          <p:cNvSpPr/>
          <p:nvPr/>
        </p:nvSpPr>
        <p:spPr>
          <a:xfrm>
            <a:off x="6126480" y="2834640"/>
            <a:ext cx="543154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0" y="28346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22%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Bracket Similarity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 rot="18900000">
            <a:off x="1280160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TaylorDuran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 rot="18900000">
            <a:off x="1664208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Capn'Kirk</a:t>
            </a:r>
            <a:endParaRPr lang="en-US" sz="550" dirty="0"/>
          </a:p>
        </p:txBody>
      </p:sp>
      <p:sp>
        <p:nvSpPr>
          <p:cNvPr id="7" name="Text 5"/>
          <p:cNvSpPr/>
          <p:nvPr/>
        </p:nvSpPr>
        <p:spPr>
          <a:xfrm rot="18900000">
            <a:off x="2048256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Fizzz3</a:t>
            </a:r>
            <a:endParaRPr lang="en-US" sz="550" dirty="0"/>
          </a:p>
        </p:txBody>
      </p:sp>
      <p:sp>
        <p:nvSpPr>
          <p:cNvPr id="8" name="Text 6"/>
          <p:cNvSpPr/>
          <p:nvPr/>
        </p:nvSpPr>
        <p:spPr>
          <a:xfrm rot="18900000">
            <a:off x="2432304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Paul233365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 rot="18900000">
            <a:off x="2816352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twnutt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 rot="18900000">
            <a:off x="3200400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inursha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 rot="18900000">
            <a:off x="3584448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ESPNFAN828..</a:t>
            </a:r>
            <a:endParaRPr lang="en-US" sz="550" dirty="0"/>
          </a:p>
        </p:txBody>
      </p:sp>
      <p:sp>
        <p:nvSpPr>
          <p:cNvPr id="12" name="Text 10"/>
          <p:cNvSpPr/>
          <p:nvPr/>
        </p:nvSpPr>
        <p:spPr>
          <a:xfrm rot="18900000">
            <a:off x="3968496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ESPNFAN969..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274320" y="109728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TaylorDuran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371600" y="10972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55648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78%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2139696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39696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80%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2523744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23744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82%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2907792" y="109728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07792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65%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3291840" y="109728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675888" y="10972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059936" y="1097280"/>
            <a:ext cx="384048" cy="384048"/>
          </a:xfrm>
          <a:prstGeom prst="rect">
            <a:avLst/>
          </a:prstGeom>
          <a:solidFill>
            <a:srgbClr val="6B8F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59936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71%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74320" y="148132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Capn'Kirk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1371600" y="1481328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78%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1755648" y="148132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696" y="1481328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39696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85%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523744" y="1481328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23744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81%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2907792" y="148132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07792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3291840" y="148132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3675888" y="148132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75888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4059936" y="148132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59936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63%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274320" y="186537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Fizzz3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1371600" y="1865376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0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80%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755648" y="1865376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55648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85%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139696" y="186537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23744" y="1865376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3744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79%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2907792" y="1865376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07792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3291840" y="1865376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675888" y="186537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75888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75%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4059936" y="186537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59936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274320" y="22494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Paul233365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1371600" y="2249424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71600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82%</a:t>
            </a:r>
            <a:endParaRPr lang="en-US" sz="600" dirty="0"/>
          </a:p>
        </p:txBody>
      </p:sp>
      <p:sp>
        <p:nvSpPr>
          <p:cNvPr id="64" name="Shape 62"/>
          <p:cNvSpPr/>
          <p:nvPr/>
        </p:nvSpPr>
        <p:spPr>
          <a:xfrm>
            <a:off x="1755648" y="2249424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55648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81%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2139696" y="2249424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39696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79%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2523744" y="2249424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907792" y="2249424"/>
            <a:ext cx="384048" cy="384048"/>
          </a:xfrm>
          <a:prstGeom prst="rect">
            <a:avLst/>
          </a:prstGeom>
          <a:solidFill>
            <a:srgbClr val="8B9E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907792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3291840" y="2249424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91840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3675888" y="2249424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75888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75" name="Shape 73"/>
          <p:cNvSpPr/>
          <p:nvPr/>
        </p:nvSpPr>
        <p:spPr>
          <a:xfrm>
            <a:off x="4059936" y="2249424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059936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60%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274320" y="263347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twnutt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1371600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371600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65%</a:t>
            </a:r>
            <a:endParaRPr lang="en-US" sz="600" dirty="0"/>
          </a:p>
        </p:txBody>
      </p:sp>
      <p:sp>
        <p:nvSpPr>
          <p:cNvPr id="80" name="Shape 78"/>
          <p:cNvSpPr/>
          <p:nvPr/>
        </p:nvSpPr>
        <p:spPr>
          <a:xfrm>
            <a:off x="1755648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55648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2139696" y="2633472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139696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2523744" y="2633472"/>
            <a:ext cx="384048" cy="384048"/>
          </a:xfrm>
          <a:prstGeom prst="rect">
            <a:avLst/>
          </a:prstGeom>
          <a:solidFill>
            <a:srgbClr val="8B9E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523744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2907792" y="2633472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91840" y="2633472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91840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55%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3675888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675888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66%</a:t>
            </a:r>
            <a:endParaRPr lang="en-US" sz="600" dirty="0"/>
          </a:p>
        </p:txBody>
      </p:sp>
      <p:sp>
        <p:nvSpPr>
          <p:cNvPr id="91" name="Shape 89"/>
          <p:cNvSpPr/>
          <p:nvPr/>
        </p:nvSpPr>
        <p:spPr>
          <a:xfrm>
            <a:off x="4059936" y="2633472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059936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274320" y="301752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inursha</a:t>
            </a:r>
            <a:endParaRPr lang="en-US" sz="600" dirty="0"/>
          </a:p>
        </p:txBody>
      </p:sp>
      <p:sp>
        <p:nvSpPr>
          <p:cNvPr id="94" name="Shape 92"/>
          <p:cNvSpPr/>
          <p:nvPr/>
        </p:nvSpPr>
        <p:spPr>
          <a:xfrm>
            <a:off x="1371600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37160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96" name="Shape 94"/>
          <p:cNvSpPr/>
          <p:nvPr/>
        </p:nvSpPr>
        <p:spPr>
          <a:xfrm>
            <a:off x="1755648" y="3017520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55648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2139696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39696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00" name="Shape 98"/>
          <p:cNvSpPr/>
          <p:nvPr/>
        </p:nvSpPr>
        <p:spPr>
          <a:xfrm>
            <a:off x="2523744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523744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102" name="Shape 100"/>
          <p:cNvSpPr/>
          <p:nvPr/>
        </p:nvSpPr>
        <p:spPr>
          <a:xfrm>
            <a:off x="2907792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907792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55%</a:t>
            </a:r>
            <a:endParaRPr lang="en-US" sz="600" dirty="0"/>
          </a:p>
        </p:txBody>
      </p:sp>
      <p:sp>
        <p:nvSpPr>
          <p:cNvPr id="104" name="Shape 102"/>
          <p:cNvSpPr/>
          <p:nvPr/>
        </p:nvSpPr>
        <p:spPr>
          <a:xfrm>
            <a:off x="3291840" y="301752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675888" y="301752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75888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4059936" y="301752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59936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74320" y="340156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ESPNFAN8289368577</a:t>
            </a:r>
            <a:endParaRPr lang="en-US" sz="600" dirty="0"/>
          </a:p>
        </p:txBody>
      </p:sp>
      <p:sp>
        <p:nvSpPr>
          <p:cNvPr id="110" name="Shape 108"/>
          <p:cNvSpPr/>
          <p:nvPr/>
        </p:nvSpPr>
        <p:spPr>
          <a:xfrm>
            <a:off x="1371600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371600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112" name="Shape 110"/>
          <p:cNvSpPr/>
          <p:nvPr/>
        </p:nvSpPr>
        <p:spPr>
          <a:xfrm>
            <a:off x="1755648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55648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114" name="Shape 112"/>
          <p:cNvSpPr/>
          <p:nvPr/>
        </p:nvSpPr>
        <p:spPr>
          <a:xfrm>
            <a:off x="2139696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39696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75%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2523744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523744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118" name="Shape 116"/>
          <p:cNvSpPr/>
          <p:nvPr/>
        </p:nvSpPr>
        <p:spPr>
          <a:xfrm>
            <a:off x="2907792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907792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66%</a:t>
            </a:r>
            <a:endParaRPr lang="en-US" sz="600" dirty="0"/>
          </a:p>
        </p:txBody>
      </p:sp>
      <p:sp>
        <p:nvSpPr>
          <p:cNvPr id="120" name="Shape 118"/>
          <p:cNvSpPr/>
          <p:nvPr/>
        </p:nvSpPr>
        <p:spPr>
          <a:xfrm>
            <a:off x="3291840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91840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122" name="Shape 120"/>
          <p:cNvSpPr/>
          <p:nvPr/>
        </p:nvSpPr>
        <p:spPr>
          <a:xfrm>
            <a:off x="3675888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059936" y="340156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059936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59%</a:t>
            </a:r>
            <a:endParaRPr lang="en-US" sz="600" dirty="0"/>
          </a:p>
        </p:txBody>
      </p:sp>
      <p:sp>
        <p:nvSpPr>
          <p:cNvPr id="125" name="Text 123"/>
          <p:cNvSpPr/>
          <p:nvPr/>
        </p:nvSpPr>
        <p:spPr>
          <a:xfrm>
            <a:off x="274320" y="378561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ESPNFAN9699154365</a:t>
            </a:r>
            <a:endParaRPr lang="en-US" sz="600" dirty="0"/>
          </a:p>
        </p:txBody>
      </p:sp>
      <p:sp>
        <p:nvSpPr>
          <p:cNvPr id="126" name="Shape 124"/>
          <p:cNvSpPr/>
          <p:nvPr/>
        </p:nvSpPr>
        <p:spPr>
          <a:xfrm>
            <a:off x="1371600" y="3785616"/>
            <a:ext cx="384048" cy="384048"/>
          </a:xfrm>
          <a:prstGeom prst="rect">
            <a:avLst/>
          </a:prstGeom>
          <a:solidFill>
            <a:srgbClr val="6B8F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371600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71%</a:t>
            </a:r>
            <a:endParaRPr lang="en-US" sz="600" dirty="0"/>
          </a:p>
        </p:txBody>
      </p:sp>
      <p:sp>
        <p:nvSpPr>
          <p:cNvPr id="128" name="Shape 126"/>
          <p:cNvSpPr/>
          <p:nvPr/>
        </p:nvSpPr>
        <p:spPr>
          <a:xfrm>
            <a:off x="1755648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755648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63%</a:t>
            </a:r>
            <a:endParaRPr lang="en-US" sz="600" dirty="0"/>
          </a:p>
        </p:txBody>
      </p:sp>
      <p:sp>
        <p:nvSpPr>
          <p:cNvPr id="130" name="Shape 128"/>
          <p:cNvSpPr/>
          <p:nvPr/>
        </p:nvSpPr>
        <p:spPr>
          <a:xfrm>
            <a:off x="2139696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139696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132" name="Shape 130"/>
          <p:cNvSpPr/>
          <p:nvPr/>
        </p:nvSpPr>
        <p:spPr>
          <a:xfrm>
            <a:off x="2523744" y="3785616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523744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60%</a:t>
            </a:r>
            <a:endParaRPr lang="en-US" sz="600" dirty="0"/>
          </a:p>
        </p:txBody>
      </p:sp>
      <p:sp>
        <p:nvSpPr>
          <p:cNvPr id="134" name="Shape 132"/>
          <p:cNvSpPr/>
          <p:nvPr/>
        </p:nvSpPr>
        <p:spPr>
          <a:xfrm>
            <a:off x="2907792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907792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3291840" y="3785616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291840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38" name="Shape 136"/>
          <p:cNvSpPr/>
          <p:nvPr/>
        </p:nvSpPr>
        <p:spPr>
          <a:xfrm>
            <a:off x="3675888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675888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59%</a:t>
            </a:r>
            <a:endParaRPr lang="en-US" sz="600" dirty="0"/>
          </a:p>
        </p:txBody>
      </p:sp>
      <p:sp>
        <p:nvSpPr>
          <p:cNvPr id="140" name="Shape 138"/>
          <p:cNvSpPr/>
          <p:nvPr/>
        </p:nvSpPr>
        <p:spPr>
          <a:xfrm>
            <a:off x="4059936" y="378561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371600" y="42976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LEGEND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1371600" y="4526280"/>
            <a:ext cx="137160" cy="13716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43" name="Text 141"/>
          <p:cNvSpPr/>
          <p:nvPr/>
        </p:nvSpPr>
        <p:spPr>
          <a:xfrm>
            <a:off x="155448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80%+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2468880" y="4526280"/>
            <a:ext cx="137160" cy="13716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5" name="Text 143"/>
          <p:cNvSpPr/>
          <p:nvPr/>
        </p:nvSpPr>
        <p:spPr>
          <a:xfrm>
            <a:off x="265176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73-79%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3566160" y="4526280"/>
            <a:ext cx="137160" cy="137160"/>
          </a:xfrm>
          <a:prstGeom prst="rect">
            <a:avLst/>
          </a:prstGeom>
          <a:solidFill>
            <a:srgbClr val="A67C52"/>
          </a:solidFill>
          <a:ln/>
        </p:spPr>
      </p:sp>
      <p:sp>
        <p:nvSpPr>
          <p:cNvPr id="147" name="Text 145"/>
          <p:cNvSpPr/>
          <p:nvPr/>
        </p:nvSpPr>
        <p:spPr>
          <a:xfrm>
            <a:off x="374904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66-72%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663440" y="4526280"/>
            <a:ext cx="137160" cy="137160"/>
          </a:xfrm>
          <a:prstGeom prst="rect">
            <a:avLst/>
          </a:prstGeom>
          <a:solidFill>
            <a:srgbClr val="8B7355"/>
          </a:solidFill>
          <a:ln/>
        </p:spPr>
      </p:sp>
      <p:sp>
        <p:nvSpPr>
          <p:cNvPr id="149" name="Text 147"/>
          <p:cNvSpPr/>
          <p:nvPr/>
        </p:nvSpPr>
        <p:spPr>
          <a:xfrm>
            <a:off x="484632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&lt;66%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&amp; Accuracy by Round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914400"/>
                <a:gridCol w="1005840"/>
                <a:gridCol w="1005840"/>
                <a:gridCol w="914400"/>
                <a:gridCol w="9144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WINS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LOSSES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R64 ACCY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R32 ACCY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CHALK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 vs Uniqueness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4114800"/>
            <a:ext cx="6858000" cy="1828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097280"/>
            <a:ext cx="18288" cy="301752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0" y="420624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Chalk 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Unique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36440" y="3090134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0" name="Text 8"/>
          <p:cNvSpPr/>
          <p:nvPr/>
        </p:nvSpPr>
        <p:spPr>
          <a:xfrm>
            <a:off x="4307840" y="281581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TaylorDuran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8092440" y="3977640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0" y="37033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Capn'Kirk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3012440" y="2202628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4" name="Text 12"/>
          <p:cNvSpPr/>
          <p:nvPr/>
        </p:nvSpPr>
        <p:spPr>
          <a:xfrm>
            <a:off x="2783840" y="192830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Fizzz3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5806440" y="3445136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317081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Paul233365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4536440" y="2912633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8" name="Text 16"/>
          <p:cNvSpPr/>
          <p:nvPr/>
        </p:nvSpPr>
        <p:spPr>
          <a:xfrm>
            <a:off x="4307840" y="2638313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twnutt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3012440" y="1670125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0" name="Text 18"/>
          <p:cNvSpPr/>
          <p:nvPr/>
        </p:nvSpPr>
        <p:spPr>
          <a:xfrm>
            <a:off x="2783840" y="1395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inursha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044440" y="2025127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2" name="Text 20"/>
          <p:cNvSpPr/>
          <p:nvPr/>
        </p:nvSpPr>
        <p:spPr>
          <a:xfrm>
            <a:off x="4815840" y="1750807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ESPN...8577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1234440" y="960120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685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ESPN...4365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 vs Underdogs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525018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Shape 5"/>
          <p:cNvSpPr/>
          <p:nvPr/>
        </p:nvSpPr>
        <p:spPr>
          <a:xfrm>
            <a:off x="7353300" y="987552"/>
            <a:ext cx="1839686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9284426" y="96012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1371600"/>
            <a:ext cx="614172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Shape 9"/>
          <p:cNvSpPr/>
          <p:nvPr/>
        </p:nvSpPr>
        <p:spPr>
          <a:xfrm>
            <a:off x="8244840" y="1371600"/>
            <a:ext cx="0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2" name="Text 10"/>
          <p:cNvSpPr/>
          <p:nvPr/>
        </p:nvSpPr>
        <p:spPr>
          <a:xfrm>
            <a:off x="8336280" y="134416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03120" y="1755648"/>
            <a:ext cx="48539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6957060" y="1755648"/>
            <a:ext cx="3537857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10586357" y="172821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74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139696"/>
            <a:ext cx="554736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0480" y="2139696"/>
            <a:ext cx="11321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0" name="Text 18"/>
          <p:cNvSpPr/>
          <p:nvPr/>
        </p:nvSpPr>
        <p:spPr>
          <a:xfrm>
            <a:off x="8874034" y="211226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03120" y="2523744"/>
            <a:ext cx="525018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53300" y="2523744"/>
            <a:ext cx="21227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4" name="Text 22"/>
          <p:cNvSpPr/>
          <p:nvPr/>
        </p:nvSpPr>
        <p:spPr>
          <a:xfrm>
            <a:off x="9567454" y="249631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68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48539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6957060" y="2907792"/>
            <a:ext cx="4669971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8" name="Text 26"/>
          <p:cNvSpPr/>
          <p:nvPr/>
        </p:nvSpPr>
        <p:spPr>
          <a:xfrm>
            <a:off x="11718471" y="288036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3291840"/>
            <a:ext cx="53492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7452360" y="3291840"/>
            <a:ext cx="3962400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2" name="Text 30"/>
          <p:cNvSpPr/>
          <p:nvPr/>
        </p:nvSpPr>
        <p:spPr>
          <a:xfrm>
            <a:off x="11506200" y="326440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103120" y="3675888"/>
            <a:ext cx="43586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1760" y="3675888"/>
            <a:ext cx="60851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6" name="Text 34"/>
          <p:cNvSpPr/>
          <p:nvPr/>
        </p:nvSpPr>
        <p:spPr>
          <a:xfrm>
            <a:off x="12638314" y="364845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87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6576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Favorites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280160" y="4160520"/>
            <a:ext cx="137160" cy="13716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9" name="Text 37"/>
          <p:cNvSpPr/>
          <p:nvPr/>
        </p:nvSpPr>
        <p:spPr>
          <a:xfrm>
            <a:off x="155448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Underdogs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468880" y="4160520"/>
            <a:ext cx="13716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Swing Games — Key Toss-Ups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3474720"/>
        </p:xfrm>
        <a:graphic>
          <a:graphicData uri="http://schemas.openxmlformats.org/drawingml/2006/table">
            <a:tbl>
              <a:tblPr/>
              <a:tblGrid>
                <a:gridCol w="4114800"/>
                <a:gridCol w="1097280"/>
                <a:gridCol w="1600200"/>
                <a:gridCol w="1600200"/>
              </a:tblGrid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MATCHUP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SPLIT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TEAM A PICKS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TEAM B PICKS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Texas A&amp;M vs Saint Mary's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Miami vs Missouri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Akron vs Texas Tech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Arkansas vs Wisconsin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Gonzaga vs Purdue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TCU vs Ohio State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3-5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Dependency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Percentage of ceiling ceiling that depends on champion winning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TaylorDuran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754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80% ceiling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231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3" name="Text 11"/>
          <p:cNvSpPr/>
          <p:nvPr/>
        </p:nvSpPr>
        <p:spPr>
          <a:xfrm>
            <a:off x="25328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Capn'Kirk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328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328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82% ceiling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805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8" name="Text 16"/>
          <p:cNvSpPr/>
          <p:nvPr/>
        </p:nvSpPr>
        <p:spPr>
          <a:xfrm>
            <a:off x="45902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Fizzz3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902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02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86% ceiling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379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3" name="Text 21"/>
          <p:cNvSpPr/>
          <p:nvPr/>
        </p:nvSpPr>
        <p:spPr>
          <a:xfrm>
            <a:off x="66476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Paul233365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476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6476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84% ceiling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657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twnutt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4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77% ceiling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4231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231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3" name="Text 31"/>
          <p:cNvSpPr/>
          <p:nvPr/>
        </p:nvSpPr>
        <p:spPr>
          <a:xfrm>
            <a:off x="25328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inursha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328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5328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90% ceiling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4805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805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8" name="Text 36"/>
          <p:cNvSpPr/>
          <p:nvPr/>
        </p:nvSpPr>
        <p:spPr>
          <a:xfrm>
            <a:off x="45902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ESPNFAN8289368577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902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902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78% ceiling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5379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379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43" name="Text 41"/>
          <p:cNvSpPr/>
          <p:nvPr/>
        </p:nvSpPr>
        <p:spPr>
          <a:xfrm>
            <a:off x="66476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ESPNFAN9699154365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476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6476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82% ceiling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Elimination Tracker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64008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0" y="987552"/>
            <a:ext cx="6306671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Text 6"/>
          <p:cNvSpPr/>
          <p:nvPr/>
        </p:nvSpPr>
        <p:spPr>
          <a:xfrm>
            <a:off x="14902031" y="9601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1790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1371600"/>
            <a:ext cx="611632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Shape 9"/>
          <p:cNvSpPr/>
          <p:nvPr/>
        </p:nvSpPr>
        <p:spPr>
          <a:xfrm>
            <a:off x="8219440" y="1371600"/>
            <a:ext cx="6494929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2" name="Text 10"/>
          <p:cNvSpPr/>
          <p:nvPr/>
        </p:nvSpPr>
        <p:spPr>
          <a:xfrm>
            <a:off x="14805809" y="13441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1810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03120" y="1755648"/>
            <a:ext cx="597408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8077200" y="1755648"/>
            <a:ext cx="6306671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4"/>
          <p:cNvSpPr/>
          <p:nvPr/>
        </p:nvSpPr>
        <p:spPr>
          <a:xfrm>
            <a:off x="14475311" y="17282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1760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139696"/>
            <a:ext cx="56896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92720" y="2139696"/>
            <a:ext cx="6494929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0" name="Text 18"/>
          <p:cNvSpPr/>
          <p:nvPr/>
        </p:nvSpPr>
        <p:spPr>
          <a:xfrm>
            <a:off x="14379089" y="211226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1780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03120" y="2523744"/>
            <a:ext cx="55473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7650480" y="2523744"/>
            <a:ext cx="6494929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14236849" y="2496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1770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6939280" y="2907792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Text 26"/>
          <p:cNvSpPr/>
          <p:nvPr/>
        </p:nvSpPr>
        <p:spPr>
          <a:xfrm>
            <a:off x="13431520" y="288036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1700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3291840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6939280" y="3291840"/>
            <a:ext cx="5082988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2" name="Text 30"/>
          <p:cNvSpPr/>
          <p:nvPr/>
        </p:nvSpPr>
        <p:spPr>
          <a:xfrm>
            <a:off x="12113708" y="326440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1420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103120" y="3675888"/>
            <a:ext cx="440944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5" name="Shape 33"/>
          <p:cNvSpPr/>
          <p:nvPr/>
        </p:nvSpPr>
        <p:spPr>
          <a:xfrm>
            <a:off x="6512560" y="3675888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13004800" y="36484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1670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65760" y="4114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Current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143000" y="4160520"/>
            <a:ext cx="137160" cy="13716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9" name="Text 37"/>
          <p:cNvSpPr/>
          <p:nvPr/>
        </p:nvSpPr>
        <p:spPr>
          <a:xfrm>
            <a:off x="141732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Remaining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331720" y="4160520"/>
            <a:ext cx="137160" cy="13716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On.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The bracket race continues.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Updated Mar 22, 2026 · ESPN Tournament Challenge · 8 entries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4805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Built with Claude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2026-03-23T00:51:29Z</dcterms:created>
  <dcterms:modified xsi:type="dcterms:W3CDTF">2026-03-23T00:51:29Z</dcterms:modified>
</cp:coreProperties>
</file>