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R64</c:v>
                </c:pt>
              </c:strCache>
            </c:strRef>
          </c:tx>
          <c:spPr>
            <a:solidFill>
              <a:srgbClr val="2B5A7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2C2C2C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TaylorDuran</c:v>
                  </c:pt>
                  <c:pt idx="1">
                    <c:v>Fizzz3</c:v>
                  </c:pt>
                  <c:pt idx="2">
                    <c:v>Capn'Kirk</c:v>
                  </c:pt>
                  <c:pt idx="3">
                    <c:v>Paul233365</c:v>
                  </c:pt>
                  <c:pt idx="4">
                    <c:v>twnutt</c:v>
                  </c:pt>
                  <c:pt idx="5">
                    <c:v>inursha</c:v>
                  </c:pt>
                  <c:pt idx="6">
                    <c:v>ESPNFAN8289368577</c:v>
                  </c:pt>
                  <c:pt idx="7">
                    <c:v>ESPNFAN9699154365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290</c:v>
                </c:pt>
                <c:pt idx="1">
                  <c:v>260</c:v>
                </c:pt>
                <c:pt idx="2">
                  <c:v>250</c:v>
                </c:pt>
                <c:pt idx="3">
                  <c:v>240</c:v>
                </c:pt>
                <c:pt idx="4">
                  <c:v>230</c:v>
                </c:pt>
                <c:pt idx="5">
                  <c:v>200</c:v>
                </c:pt>
                <c:pt idx="6">
                  <c:v>240</c:v>
                </c:pt>
                <c:pt idx="7">
                  <c:v>230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R32</c:v>
                </c:pt>
              </c:strCache>
            </c:strRef>
          </c:tx>
          <c:spPr>
            <a:solidFill>
              <a:srgbClr val="D4A57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2C2C2C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TaylorDuran</c:v>
                  </c:pt>
                  <c:pt idx="1">
                    <c:v>Fizzz3</c:v>
                  </c:pt>
                  <c:pt idx="2">
                    <c:v>Capn'Kirk</c:v>
                  </c:pt>
                  <c:pt idx="3">
                    <c:v>Paul233365</c:v>
                  </c:pt>
                  <c:pt idx="4">
                    <c:v>twnutt</c:v>
                  </c:pt>
                  <c:pt idx="5">
                    <c:v>inursha</c:v>
                  </c:pt>
                  <c:pt idx="6">
                    <c:v>ESPNFAN8289368577</c:v>
                  </c:pt>
                  <c:pt idx="7">
                    <c:v>ESPNFAN9699154365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160</c:v>
                </c:pt>
                <c:pt idx="1">
                  <c:v>180</c:v>
                </c:pt>
                <c:pt idx="2">
                  <c:v>180</c:v>
                </c:pt>
                <c:pt idx="3">
                  <c:v>160</c:v>
                </c:pt>
                <c:pt idx="4">
                  <c:v>160</c:v>
                </c:pt>
                <c:pt idx="5">
                  <c:v>140</c:v>
                </c:pt>
                <c:pt idx="6">
                  <c:v>100</c:v>
                </c:pt>
                <c:pt idx="7">
                  <c:v>80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2C2C2C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C2C2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C3C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Elons Plugs 2026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457200" y="2194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DC1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March Madness 2026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29260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AAAAA"/>
                </a:solidFill>
              </a:rPr>
              <a:t>ESPN Tournament Challenge / Bracket Analytics / Mar 22, 2026 8:30 PM ET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44805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AAAAAA"/>
                </a:solidFill>
              </a:rPr>
              <a:t>8 participants / Bracket Analytics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0" y="44805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AAAA"/>
                </a:solidFill>
              </a:rPr>
              <a:t>Built with Claude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DC1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371600" y="22860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371600" y="658368"/>
            <a:ext cx="7315200" cy="18288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5" name="Shape 3"/>
          <p:cNvSpPr/>
          <p:nvPr/>
        </p:nvSpPr>
        <p:spPr>
          <a:xfrm>
            <a:off x="365760" y="868680"/>
            <a:ext cx="16459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868680"/>
            <a:ext cx="73152" cy="548640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886968"/>
            <a:ext cx="14173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LEADER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502920" y="1051560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TaylorDuran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103120" y="868680"/>
            <a:ext cx="16459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03120" y="868680"/>
            <a:ext cx="73152" cy="548640"/>
          </a:xfrm>
          <a:prstGeom prst="rect">
            <a:avLst/>
          </a:prstGeom>
          <a:solidFill>
            <a:srgbClr val="2B5A7E"/>
          </a:solidFill>
          <a:ln/>
        </p:spPr>
      </p:sp>
      <p:sp>
        <p:nvSpPr>
          <p:cNvPr id="11" name="Text 9"/>
          <p:cNvSpPr/>
          <p:nvPr/>
        </p:nvSpPr>
        <p:spPr>
          <a:xfrm>
            <a:off x="2240280" y="886968"/>
            <a:ext cx="14173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MARGIN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2240280" y="1051560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840480" y="868680"/>
            <a:ext cx="16459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40480" y="868680"/>
            <a:ext cx="73152" cy="54864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15" name="Text 13"/>
          <p:cNvSpPr/>
          <p:nvPr/>
        </p:nvSpPr>
        <p:spPr>
          <a:xfrm>
            <a:off x="3977640" y="886968"/>
            <a:ext cx="14173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AVERAGE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3977640" y="1051560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360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577840" y="868680"/>
            <a:ext cx="16459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77840" y="868680"/>
            <a:ext cx="73152" cy="548640"/>
          </a:xfrm>
          <a:prstGeom prst="rect">
            <a:avLst/>
          </a:prstGeom>
          <a:solidFill>
            <a:srgbClr val="5FA96B"/>
          </a:solidFill>
          <a:ln/>
        </p:spPr>
      </p:sp>
      <p:sp>
        <p:nvSpPr>
          <p:cNvPr id="19" name="Text 17"/>
          <p:cNvSpPr/>
          <p:nvPr/>
        </p:nvSpPr>
        <p:spPr>
          <a:xfrm>
            <a:off x="5715000" y="886968"/>
            <a:ext cx="14173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ALIVE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5715000" y="1051560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8/8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7315200" y="868680"/>
            <a:ext cx="16459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15200" y="868680"/>
            <a:ext cx="73152" cy="548640"/>
          </a:xfrm>
          <a:prstGeom prst="rect">
            <a:avLst/>
          </a:prstGeom>
          <a:solidFill>
            <a:srgbClr val="1E3A4B"/>
          </a:solidFill>
          <a:ln/>
        </p:spPr>
      </p:sp>
      <p:sp>
        <p:nvSpPr>
          <p:cNvPr id="23" name="Text 21"/>
          <p:cNvSpPr/>
          <p:nvPr/>
        </p:nvSpPr>
        <p:spPr>
          <a:xfrm>
            <a:off x="7452360" y="886968"/>
            <a:ext cx="14173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HIGHEST CEILING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7452360" y="1051560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1890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365760" y="1600200"/>
            <a:ext cx="8412480" cy="731520"/>
          </a:xfrm>
          <a:prstGeom prst="rect">
            <a:avLst/>
          </a:prstGeom>
          <a:solidFill>
            <a:srgbClr val="FFFAF5"/>
          </a:solidFill>
          <a:ln w="12700">
            <a:solidFill>
              <a:srgbClr val="E0D5C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1645920"/>
            <a:ext cx="1371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C1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INSIGHT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548640" y="1847088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TaylorDuran barely holds a 10-point lead as Fizzz3 surged to #2 after nailing the Tennessee pick. Capn'Kirk lurks 20 back at #3. This race is wide open heading into Sweet 16.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65760" y="246888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7 LEADERBOARD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743200"/>
          <a:ext cx="8412480" cy="1828800"/>
        </p:xfrm>
        <a:graphic>
          <a:graphicData uri="http://schemas.openxmlformats.org/drawingml/2006/table">
            <a:tbl>
              <a:tblPr/>
              <a:tblGrid>
                <a:gridCol w="548640"/>
                <a:gridCol w="4114800"/>
                <a:gridCol w="1371600"/>
                <a:gridCol w="14630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RANK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PLAYER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PTS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PERCENTILE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TaylorDuran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450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97.5%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Fizzz3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440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79.9%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Capn'Kirk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430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88.0%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Paul233365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400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61.0%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twnutt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390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52.1%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inursha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340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21.0%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ESPNFAN8289368577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340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21.0%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0" name="Text 27"/>
          <p:cNvSpPr/>
          <p:nvPr/>
        </p:nvSpPr>
        <p:spPr>
          <a:xfrm>
            <a:off x="274320" y="4800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Powered by Claude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841248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2 / 17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DC1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371600" y="22860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Standings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371600" y="658368"/>
            <a:ext cx="7315200" cy="18288"/>
          </a:xfrm>
          <a:prstGeom prst="rect">
            <a:avLst/>
          </a:prstGeom>
          <a:solidFill>
            <a:srgbClr val="DC1A41"/>
          </a:solidFill>
          <a:ln/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914400"/>
          <a:ext cx="8503920" cy="3657600"/>
        </p:xfrm>
        <a:graphic>
          <a:graphicData uri="http://schemas.openxmlformats.org/drawingml/2006/table">
            <a:tbl>
              <a:tblPr/>
              <a:tblGrid>
                <a:gridCol w="457200"/>
                <a:gridCol w="2011680"/>
                <a:gridCol w="731520"/>
                <a:gridCol w="731520"/>
                <a:gridCol w="548640"/>
                <a:gridCol w="548640"/>
                <a:gridCol w="2286000"/>
              </a:tblGrid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RANK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PLAYER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PTS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MAX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W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L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CHAMPION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TaylorDuran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450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1770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37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Arizona Wildcats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Fizzz3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440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1760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35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Arizona Wildcats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Capn'Kirk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430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1790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34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Duke Blue Devils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Paul233365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400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1760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32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Arizona Wildcats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twnutt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390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1730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31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Duke Blue Devils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inursha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340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1700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27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Duke Blue Devils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ESPNFAN8289368577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340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1420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29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Duke Blue Devils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ESPNFAN9699154365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310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1670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27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Duke Blue Devils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4800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Powered by Claude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41248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3 / 17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DC1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005840" y="2286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Watch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371600" y="658368"/>
            <a:ext cx="7315200" cy="18288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144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TaylorDuran vs Capn'Kirk Battle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1704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a 10-point gap after Fizzz3 surged to #2. The top 3 are separated by just 20 points — Sweet 16 is anyone's game.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Champion Concentration Risk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90195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Arizona and Duke dominate (6 picks total). Heavy reliance on these teams could consolidate points at the top.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23774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Mid-Pack Clustering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63347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Ranks 5-8 are separated by only 30 points. Sweet 16 results will likely shuffle the lower half significantly.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31089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Chalk vs Contrarian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36499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Chalky brackets (Capn'Kirk: 95%) vs unique picks (TaylorDuran: 81%) both working so far—chalk winners have edge.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74320" y="4800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Powered by Claude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41248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4 / 17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DC1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371600" y="22860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Points Leaderboard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371600" y="658368"/>
            <a:ext cx="7315200" cy="18288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96012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C2C2C"/>
                </a:solidFill>
              </a:rPr>
              <a:t>TaylorDuran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103120" y="987552"/>
            <a:ext cx="6400800" cy="228600"/>
          </a:xfrm>
          <a:prstGeom prst="rect">
            <a:avLst/>
          </a:prstGeom>
          <a:solidFill>
            <a:srgbClr val="2B5A7E"/>
          </a:solidFill>
          <a:ln/>
        </p:spPr>
      </p:sp>
      <p:sp>
        <p:nvSpPr>
          <p:cNvPr id="7" name="Text 5"/>
          <p:cNvSpPr/>
          <p:nvPr/>
        </p:nvSpPr>
        <p:spPr>
          <a:xfrm>
            <a:off x="8595360" y="960120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2C2C"/>
                </a:solidFill>
              </a:rPr>
              <a:t>450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65760" y="1344168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C2C2C"/>
                </a:solidFill>
              </a:rPr>
              <a:t>Fizzz3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103120" y="1371600"/>
            <a:ext cx="6258560" cy="228600"/>
          </a:xfrm>
          <a:prstGeom prst="rect">
            <a:avLst/>
          </a:prstGeom>
          <a:solidFill>
            <a:srgbClr val="2B5A7E"/>
          </a:solidFill>
          <a:ln/>
        </p:spPr>
      </p:sp>
      <p:sp>
        <p:nvSpPr>
          <p:cNvPr id="10" name="Text 8"/>
          <p:cNvSpPr/>
          <p:nvPr/>
        </p:nvSpPr>
        <p:spPr>
          <a:xfrm>
            <a:off x="8453120" y="1344168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2C2C"/>
                </a:solidFill>
              </a:rPr>
              <a:t>440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65760" y="172821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C2C2C"/>
                </a:solidFill>
              </a:rPr>
              <a:t>Capn'Kirk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103120" y="1755648"/>
            <a:ext cx="6116320" cy="228600"/>
          </a:xfrm>
          <a:prstGeom prst="rect">
            <a:avLst/>
          </a:prstGeom>
          <a:solidFill>
            <a:srgbClr val="2B5A7E"/>
          </a:solidFill>
          <a:ln/>
        </p:spPr>
      </p:sp>
      <p:sp>
        <p:nvSpPr>
          <p:cNvPr id="13" name="Text 11"/>
          <p:cNvSpPr/>
          <p:nvPr/>
        </p:nvSpPr>
        <p:spPr>
          <a:xfrm>
            <a:off x="8310880" y="1728216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2C2C"/>
                </a:solidFill>
              </a:rPr>
              <a:t>430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365760" y="211226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C2C2C"/>
                </a:solidFill>
              </a:rPr>
              <a:t>Paul233365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103120" y="2139696"/>
            <a:ext cx="5689600" cy="228600"/>
          </a:xfrm>
          <a:prstGeom prst="rect">
            <a:avLst/>
          </a:prstGeom>
          <a:solidFill>
            <a:srgbClr val="2B5A7E"/>
          </a:solidFill>
          <a:ln/>
        </p:spPr>
      </p:sp>
      <p:sp>
        <p:nvSpPr>
          <p:cNvPr id="16" name="Text 14"/>
          <p:cNvSpPr/>
          <p:nvPr/>
        </p:nvSpPr>
        <p:spPr>
          <a:xfrm>
            <a:off x="7884160" y="2112264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2C2C"/>
                </a:solidFill>
              </a:rPr>
              <a:t>400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65760" y="2496312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C2C2C"/>
                </a:solidFill>
              </a:rPr>
              <a:t>twnutt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2103120" y="2523744"/>
            <a:ext cx="5547360" cy="228600"/>
          </a:xfrm>
          <a:prstGeom prst="rect">
            <a:avLst/>
          </a:prstGeom>
          <a:solidFill>
            <a:srgbClr val="2B5A7E"/>
          </a:solidFill>
          <a:ln/>
        </p:spPr>
      </p:sp>
      <p:sp>
        <p:nvSpPr>
          <p:cNvPr id="19" name="Text 17"/>
          <p:cNvSpPr/>
          <p:nvPr/>
        </p:nvSpPr>
        <p:spPr>
          <a:xfrm>
            <a:off x="7741920" y="249631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2C2C"/>
                </a:solidFill>
              </a:rPr>
              <a:t>390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65760" y="288036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C2C2C"/>
                </a:solidFill>
              </a:rPr>
              <a:t>inursha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2103120" y="2907792"/>
            <a:ext cx="4836160" cy="228600"/>
          </a:xfrm>
          <a:prstGeom prst="rect">
            <a:avLst/>
          </a:prstGeom>
          <a:solidFill>
            <a:srgbClr val="2B5A7E"/>
          </a:solidFill>
          <a:ln/>
        </p:spPr>
      </p:sp>
      <p:sp>
        <p:nvSpPr>
          <p:cNvPr id="22" name="Text 20"/>
          <p:cNvSpPr/>
          <p:nvPr/>
        </p:nvSpPr>
        <p:spPr>
          <a:xfrm>
            <a:off x="7030720" y="2880360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2C2C"/>
                </a:solidFill>
              </a:rPr>
              <a:t>340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65760" y="3264408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C2C2C"/>
                </a:solidFill>
              </a:rPr>
              <a:t>ESPNFAN8289368577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2103120" y="3291840"/>
            <a:ext cx="4836160" cy="228600"/>
          </a:xfrm>
          <a:prstGeom prst="rect">
            <a:avLst/>
          </a:prstGeom>
          <a:solidFill>
            <a:srgbClr val="2B5A7E"/>
          </a:solidFill>
          <a:ln/>
        </p:spPr>
      </p:sp>
      <p:sp>
        <p:nvSpPr>
          <p:cNvPr id="25" name="Text 23"/>
          <p:cNvSpPr/>
          <p:nvPr/>
        </p:nvSpPr>
        <p:spPr>
          <a:xfrm>
            <a:off x="7030720" y="3264408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2C2C"/>
                </a:solidFill>
              </a:rPr>
              <a:t>340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365760" y="364845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C2C2C"/>
                </a:solidFill>
              </a:rPr>
              <a:t>ESPNFAN9699154365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2103120" y="3675888"/>
            <a:ext cx="4409440" cy="228600"/>
          </a:xfrm>
          <a:prstGeom prst="rect">
            <a:avLst/>
          </a:prstGeom>
          <a:solidFill>
            <a:srgbClr val="2B5A7E"/>
          </a:solidFill>
          <a:ln/>
        </p:spPr>
      </p:sp>
      <p:sp>
        <p:nvSpPr>
          <p:cNvPr id="28" name="Text 26"/>
          <p:cNvSpPr/>
          <p:nvPr/>
        </p:nvSpPr>
        <p:spPr>
          <a:xfrm>
            <a:off x="6604000" y="3648456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2C2C"/>
                </a:solidFill>
              </a:rPr>
              <a:t>310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274320" y="4800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Powered by Claude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41248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5 / 17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DC1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005840" y="2286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Round-by-Round Breakdown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05840" y="658368"/>
            <a:ext cx="7772400" cy="18288"/>
          </a:xfrm>
          <a:prstGeom prst="rect">
            <a:avLst/>
          </a:prstGeom>
          <a:solidFill>
            <a:srgbClr val="DC1A41"/>
          </a:solidFill>
          <a:ln/>
        </p:spPr>
      </p:sp>
      <p:graphicFrame>
        <p:nvGraphicFramePr>
          <p:cNvPr id="5" name="Chart 0" descr=""/>
          <p:cNvGraphicFramePr/>
          <p:nvPr/>
        </p:nvGraphicFramePr>
        <p:xfrm>
          <a:off x="274320" y="822960"/>
          <a:ext cx="841248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1645920" y="4754880"/>
            <a:ext cx="914" cy="914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7" name="Text 4"/>
          <p:cNvSpPr/>
          <p:nvPr/>
        </p:nvSpPr>
        <p:spPr>
          <a:xfrm>
            <a:off x="274320" y="4800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Powered by Claude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841248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6 / 17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DC1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371600" y="22860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Champion Analysis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371600" y="658368"/>
            <a:ext cx="7315200" cy="18288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10972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2C2C"/>
                </a:solidFill>
              </a:rPr>
              <a:t>Arizona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920240" y="1170432"/>
            <a:ext cx="1920240" cy="228600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7" name="Text 5"/>
          <p:cNvSpPr/>
          <p:nvPr/>
        </p:nvSpPr>
        <p:spPr>
          <a:xfrm>
            <a:off x="3931920" y="109728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2C2C"/>
                </a:solidFill>
              </a:rPr>
              <a:t>3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2C2C"/>
                </a:solidFill>
              </a:rPr>
              <a:t>Duke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920240" y="1901952"/>
            <a:ext cx="3200400" cy="228600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10" name="Text 8"/>
          <p:cNvSpPr/>
          <p:nvPr/>
        </p:nvSpPr>
        <p:spPr>
          <a:xfrm>
            <a:off x="5212080" y="182880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2C2C"/>
                </a:solidFill>
              </a:rPr>
              <a:t>5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0" y="1097280"/>
            <a:ext cx="182880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0" y="1097280"/>
            <a:ext cx="73152" cy="1645920"/>
          </a:xfrm>
          <a:prstGeom prst="rect">
            <a:avLst/>
          </a:prstGeom>
          <a:solidFill>
            <a:srgbClr val="5FA96B"/>
          </a:solidFill>
          <a:ln/>
        </p:spPr>
      </p:sp>
      <p:sp>
        <p:nvSpPr>
          <p:cNvPr id="13" name="Text 11"/>
          <p:cNvSpPr/>
          <p:nvPr/>
        </p:nvSpPr>
        <p:spPr>
          <a:xfrm>
            <a:off x="5166360" y="1234440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2C2C"/>
                </a:solidFill>
              </a:rPr>
              <a:t>ARIZONA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166360" y="1600200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3 Picks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166360" y="192024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78% avg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086600" y="1097280"/>
            <a:ext cx="182880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086600" y="1097280"/>
            <a:ext cx="73152" cy="1645920"/>
          </a:xfrm>
          <a:prstGeom prst="rect">
            <a:avLst/>
          </a:prstGeom>
          <a:solidFill>
            <a:srgbClr val="1E3A4B"/>
          </a:solidFill>
          <a:ln/>
        </p:spPr>
      </p:sp>
      <p:sp>
        <p:nvSpPr>
          <p:cNvPr id="18" name="Text 16"/>
          <p:cNvSpPr/>
          <p:nvPr/>
        </p:nvSpPr>
        <p:spPr>
          <a:xfrm>
            <a:off x="7223760" y="1234440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2C2C"/>
                </a:solidFill>
              </a:rPr>
              <a:t>DUKE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223760" y="1600200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</a:rPr>
              <a:t>5 Picks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223760" y="192024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82% avg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74320" y="4800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Powered by Claude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41248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7 / 17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3D5A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457200" y="2514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FA3BE"/>
                </a:solidFill>
              </a:rPr>
              <a:t>Contrarian analysis, pick similarity, chalk scores, and swing games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41248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BE"/>
                </a:solidFill>
              </a:rPr>
              <a:t>8 / 17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DC1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005840" y="2286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Contrarian Picks — Risk vs Reward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371600" y="658368"/>
            <a:ext cx="7315200" cy="18288"/>
          </a:xfrm>
          <a:prstGeom prst="rect">
            <a:avLst/>
          </a:prstGeom>
          <a:solidFill>
            <a:srgbClr val="DC1A41"/>
          </a:solidFill>
          <a:ln/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14400"/>
          <a:ext cx="4389120" cy="3474720"/>
        </p:xfrm>
        <a:graphic>
          <a:graphicData uri="http://schemas.openxmlformats.org/drawingml/2006/table">
            <a:tbl>
              <a:tblPr/>
              <a:tblGrid>
                <a:gridCol w="1371600"/>
                <a:gridCol w="1188720"/>
                <a:gridCol w="822960"/>
                <a:gridCol w="1005840"/>
              </a:tblGrid>
              <a:tr h="315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PLAYER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TEAM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GROUP 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RESULT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5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inursha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Northern Iowa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13%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WRONG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5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inursha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Hawai'i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13%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WRONG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5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ESPNFAN9699154365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Kennesaw State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13%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WRONG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5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ESPNFAN8289368577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Louisville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25%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WRONG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5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ESPNFAN9699154365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South Florida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13%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WRONG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5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ESPNFAN9699154365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UCLA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25%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UNDECIDED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5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Fizzz3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Nebraska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25%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CORRECT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5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ESPNFAN9699154365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VCU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25%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WRONG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5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twnutt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Texas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25%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CORRECT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5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Fizzz3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Texas Tech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25%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C2C2C"/>
                          </a:solidFill>
                        </a:rPr>
                        <a:t>UNDECIDED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663440" y="914400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ACCURACY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663440" y="123444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</a:rPr>
              <a:t>Round of 64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6126480" y="1234440"/>
            <a:ext cx="2468880" cy="182880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9" name="Shape 6"/>
          <p:cNvSpPr/>
          <p:nvPr/>
        </p:nvSpPr>
        <p:spPr>
          <a:xfrm>
            <a:off x="6126480" y="1234440"/>
            <a:ext cx="0" cy="18288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10" name="Text 7"/>
          <p:cNvSpPr/>
          <p:nvPr/>
        </p:nvSpPr>
        <p:spPr>
          <a:xfrm>
            <a:off x="7863840" y="123444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C2C2C"/>
                </a:solidFill>
              </a:rPr>
              <a:t>0%</a:t>
            </a:r>
            <a:endParaRPr lang="en-US" sz="700" dirty="0"/>
          </a:p>
        </p:txBody>
      </p:sp>
      <p:sp>
        <p:nvSpPr>
          <p:cNvPr id="11" name="Text 8"/>
          <p:cNvSpPr/>
          <p:nvPr/>
        </p:nvSpPr>
        <p:spPr>
          <a:xfrm>
            <a:off x="4663440" y="155448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</a:rPr>
              <a:t>Round of 32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6126480" y="1554480"/>
            <a:ext cx="2468880" cy="182880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13" name="Shape 10"/>
          <p:cNvSpPr/>
          <p:nvPr/>
        </p:nvSpPr>
        <p:spPr>
          <a:xfrm>
            <a:off x="6126480" y="1554480"/>
            <a:ext cx="1703527" cy="18288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0" y="155448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C2C2C"/>
                </a:solidFill>
              </a:rPr>
              <a:t>69%</a:t>
            </a:r>
            <a:endParaRPr lang="en-US" sz="700" dirty="0"/>
          </a:p>
        </p:txBody>
      </p:sp>
      <p:sp>
        <p:nvSpPr>
          <p:cNvPr id="15" name="Text 12"/>
          <p:cNvSpPr/>
          <p:nvPr/>
        </p:nvSpPr>
        <p:spPr>
          <a:xfrm>
            <a:off x="4663440" y="187452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</a:rPr>
              <a:t>Sweet 16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6126480" y="1874520"/>
            <a:ext cx="2468880" cy="182880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17" name="Shape 14"/>
          <p:cNvSpPr/>
          <p:nvPr/>
        </p:nvSpPr>
        <p:spPr>
          <a:xfrm>
            <a:off x="6126480" y="1874520"/>
            <a:ext cx="1629461" cy="18288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0" y="187452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C2C2C"/>
                </a:solidFill>
              </a:rPr>
              <a:t>66%</a:t>
            </a:r>
            <a:endParaRPr lang="en-US" sz="700" dirty="0"/>
          </a:p>
        </p:txBody>
      </p:sp>
      <p:sp>
        <p:nvSpPr>
          <p:cNvPr id="19" name="Text 16"/>
          <p:cNvSpPr/>
          <p:nvPr/>
        </p:nvSpPr>
        <p:spPr>
          <a:xfrm>
            <a:off x="4663440" y="21945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</a:rPr>
              <a:t>Elite 8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6126480" y="2194560"/>
            <a:ext cx="2468880" cy="182880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21" name="Shape 18"/>
          <p:cNvSpPr/>
          <p:nvPr/>
        </p:nvSpPr>
        <p:spPr>
          <a:xfrm>
            <a:off x="6126480" y="2194560"/>
            <a:ext cx="1036930" cy="18288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22" name="Text 19"/>
          <p:cNvSpPr/>
          <p:nvPr/>
        </p:nvSpPr>
        <p:spPr>
          <a:xfrm>
            <a:off x="7863840" y="219456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C2C2C"/>
                </a:solidFill>
              </a:rPr>
              <a:t>42%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4663440" y="251460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</a:rPr>
              <a:t>Final Four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6126480" y="2514600"/>
            <a:ext cx="2468880" cy="182880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25" name="Shape 22"/>
          <p:cNvSpPr/>
          <p:nvPr/>
        </p:nvSpPr>
        <p:spPr>
          <a:xfrm>
            <a:off x="6126480" y="2514600"/>
            <a:ext cx="666598" cy="18288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0" y="251460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C2C2C"/>
                </a:solidFill>
              </a:rPr>
              <a:t>27%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4663440" y="283464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</a:rPr>
              <a:t>Championship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6126480" y="2834640"/>
            <a:ext cx="2468880" cy="182880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29" name="Shape 26"/>
          <p:cNvSpPr/>
          <p:nvPr/>
        </p:nvSpPr>
        <p:spPr>
          <a:xfrm>
            <a:off x="6126480" y="2834640"/>
            <a:ext cx="543154" cy="18288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30" name="Text 27"/>
          <p:cNvSpPr/>
          <p:nvPr/>
        </p:nvSpPr>
        <p:spPr>
          <a:xfrm>
            <a:off x="7863840" y="283464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2C2C2C"/>
                </a:solidFill>
              </a:rPr>
              <a:t>22%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74320" y="4800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Powered by Claude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841248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9 / 17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DC1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005840" y="2286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Bracket Similarity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371600" y="658368"/>
            <a:ext cx="7315200" cy="18288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5" name="Text 3"/>
          <p:cNvSpPr/>
          <p:nvPr/>
        </p:nvSpPr>
        <p:spPr>
          <a:xfrm rot="18900000">
            <a:off x="1280160" y="502920"/>
            <a:ext cx="566928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550" dirty="0">
                <a:solidFill>
                  <a:srgbClr val="2C2C2C"/>
                </a:solidFill>
              </a:rPr>
              <a:t>TaylorDuran</a:t>
            </a:r>
            <a:endParaRPr lang="en-US" sz="550" dirty="0"/>
          </a:p>
        </p:txBody>
      </p:sp>
      <p:sp>
        <p:nvSpPr>
          <p:cNvPr id="6" name="Text 4"/>
          <p:cNvSpPr/>
          <p:nvPr/>
        </p:nvSpPr>
        <p:spPr>
          <a:xfrm rot="18900000">
            <a:off x="1664208" y="502920"/>
            <a:ext cx="566928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550" dirty="0">
                <a:solidFill>
                  <a:srgbClr val="2C2C2C"/>
                </a:solidFill>
              </a:rPr>
              <a:t>Fizzz3</a:t>
            </a:r>
            <a:endParaRPr lang="en-US" sz="550" dirty="0"/>
          </a:p>
        </p:txBody>
      </p:sp>
      <p:sp>
        <p:nvSpPr>
          <p:cNvPr id="7" name="Text 5"/>
          <p:cNvSpPr/>
          <p:nvPr/>
        </p:nvSpPr>
        <p:spPr>
          <a:xfrm rot="18900000">
            <a:off x="2048256" y="502920"/>
            <a:ext cx="566928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550" dirty="0">
                <a:solidFill>
                  <a:srgbClr val="2C2C2C"/>
                </a:solidFill>
              </a:rPr>
              <a:t>Capn'Kirk</a:t>
            </a:r>
            <a:endParaRPr lang="en-US" sz="550" dirty="0"/>
          </a:p>
        </p:txBody>
      </p:sp>
      <p:sp>
        <p:nvSpPr>
          <p:cNvPr id="8" name="Text 6"/>
          <p:cNvSpPr/>
          <p:nvPr/>
        </p:nvSpPr>
        <p:spPr>
          <a:xfrm rot="18900000">
            <a:off x="2432304" y="502920"/>
            <a:ext cx="566928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550" dirty="0">
                <a:solidFill>
                  <a:srgbClr val="2C2C2C"/>
                </a:solidFill>
              </a:rPr>
              <a:t>Paul233365</a:t>
            </a:r>
            <a:endParaRPr lang="en-US" sz="550" dirty="0"/>
          </a:p>
        </p:txBody>
      </p:sp>
      <p:sp>
        <p:nvSpPr>
          <p:cNvPr id="9" name="Text 7"/>
          <p:cNvSpPr/>
          <p:nvPr/>
        </p:nvSpPr>
        <p:spPr>
          <a:xfrm rot="18900000">
            <a:off x="2816352" y="502920"/>
            <a:ext cx="566928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550" dirty="0">
                <a:solidFill>
                  <a:srgbClr val="2C2C2C"/>
                </a:solidFill>
              </a:rPr>
              <a:t>twnutt</a:t>
            </a:r>
            <a:endParaRPr lang="en-US" sz="550" dirty="0"/>
          </a:p>
        </p:txBody>
      </p:sp>
      <p:sp>
        <p:nvSpPr>
          <p:cNvPr id="10" name="Text 8"/>
          <p:cNvSpPr/>
          <p:nvPr/>
        </p:nvSpPr>
        <p:spPr>
          <a:xfrm rot="18900000">
            <a:off x="3200400" y="502920"/>
            <a:ext cx="566928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550" dirty="0">
                <a:solidFill>
                  <a:srgbClr val="2C2C2C"/>
                </a:solidFill>
              </a:rPr>
              <a:t>inursha</a:t>
            </a:r>
            <a:endParaRPr lang="en-US" sz="550" dirty="0"/>
          </a:p>
        </p:txBody>
      </p:sp>
      <p:sp>
        <p:nvSpPr>
          <p:cNvPr id="11" name="Text 9"/>
          <p:cNvSpPr/>
          <p:nvPr/>
        </p:nvSpPr>
        <p:spPr>
          <a:xfrm rot="18900000">
            <a:off x="3584448" y="502920"/>
            <a:ext cx="566928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550" dirty="0">
                <a:solidFill>
                  <a:srgbClr val="2C2C2C"/>
                </a:solidFill>
              </a:rPr>
              <a:t>ESPNFAN828..</a:t>
            </a:r>
            <a:endParaRPr lang="en-US" sz="550" dirty="0"/>
          </a:p>
        </p:txBody>
      </p:sp>
      <p:sp>
        <p:nvSpPr>
          <p:cNvPr id="12" name="Text 10"/>
          <p:cNvSpPr/>
          <p:nvPr/>
        </p:nvSpPr>
        <p:spPr>
          <a:xfrm rot="18900000">
            <a:off x="3968496" y="502920"/>
            <a:ext cx="566928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550" dirty="0">
                <a:solidFill>
                  <a:srgbClr val="2C2C2C"/>
                </a:solidFill>
              </a:rPr>
              <a:t>ESPNFAN969..</a:t>
            </a:r>
            <a:endParaRPr lang="en-US" sz="550" dirty="0"/>
          </a:p>
        </p:txBody>
      </p:sp>
      <p:sp>
        <p:nvSpPr>
          <p:cNvPr id="13" name="Text 11"/>
          <p:cNvSpPr/>
          <p:nvPr/>
        </p:nvSpPr>
        <p:spPr>
          <a:xfrm>
            <a:off x="274320" y="1097280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2C2C2C"/>
                </a:solidFill>
              </a:rPr>
              <a:t>TaylorDuran</a:t>
            </a:r>
            <a:endParaRPr lang="en-US" sz="600" dirty="0"/>
          </a:p>
        </p:txBody>
      </p:sp>
      <p:sp>
        <p:nvSpPr>
          <p:cNvPr id="14" name="Shape 12"/>
          <p:cNvSpPr/>
          <p:nvPr/>
        </p:nvSpPr>
        <p:spPr>
          <a:xfrm>
            <a:off x="1371600" y="1097280"/>
            <a:ext cx="384048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55648" y="1097280"/>
            <a:ext cx="384048" cy="384048"/>
          </a:xfrm>
          <a:prstGeom prst="rect">
            <a:avLst/>
          </a:prstGeom>
          <a:solidFill>
            <a:srgbClr val="5FA96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755648" y="10972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78%</a:t>
            </a:r>
            <a:endParaRPr lang="en-US" sz="600" dirty="0"/>
          </a:p>
        </p:txBody>
      </p:sp>
      <p:sp>
        <p:nvSpPr>
          <p:cNvPr id="17" name="Shape 15"/>
          <p:cNvSpPr/>
          <p:nvPr/>
        </p:nvSpPr>
        <p:spPr>
          <a:xfrm>
            <a:off x="2139696" y="1097280"/>
            <a:ext cx="384048" cy="384048"/>
          </a:xfrm>
          <a:prstGeom prst="rect">
            <a:avLst/>
          </a:prstGeom>
          <a:solidFill>
            <a:srgbClr val="5FA96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139696" y="10972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80%</a:t>
            </a:r>
            <a:endParaRPr lang="en-US" sz="600" dirty="0"/>
          </a:p>
        </p:txBody>
      </p:sp>
      <p:sp>
        <p:nvSpPr>
          <p:cNvPr id="19" name="Shape 17"/>
          <p:cNvSpPr/>
          <p:nvPr/>
        </p:nvSpPr>
        <p:spPr>
          <a:xfrm>
            <a:off x="2523744" y="1097280"/>
            <a:ext cx="384048" cy="384048"/>
          </a:xfrm>
          <a:prstGeom prst="rect">
            <a:avLst/>
          </a:prstGeom>
          <a:solidFill>
            <a:srgbClr val="5FA96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23744" y="10972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82%</a:t>
            </a:r>
            <a:endParaRPr lang="en-US" sz="600" dirty="0"/>
          </a:p>
        </p:txBody>
      </p:sp>
      <p:sp>
        <p:nvSpPr>
          <p:cNvPr id="21" name="Shape 19"/>
          <p:cNvSpPr/>
          <p:nvPr/>
        </p:nvSpPr>
        <p:spPr>
          <a:xfrm>
            <a:off x="2907792" y="1097280"/>
            <a:ext cx="384048" cy="384048"/>
          </a:xfrm>
          <a:prstGeom prst="rect">
            <a:avLst/>
          </a:prstGeom>
          <a:solidFill>
            <a:srgbClr val="D4A57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907792" y="10972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65%</a:t>
            </a:r>
            <a:endParaRPr lang="en-US" sz="600" dirty="0"/>
          </a:p>
        </p:txBody>
      </p:sp>
      <p:sp>
        <p:nvSpPr>
          <p:cNvPr id="23" name="Shape 21"/>
          <p:cNvSpPr/>
          <p:nvPr/>
        </p:nvSpPr>
        <p:spPr>
          <a:xfrm>
            <a:off x="3291840" y="1097280"/>
            <a:ext cx="384048" cy="384048"/>
          </a:xfrm>
          <a:prstGeom prst="rect">
            <a:avLst/>
          </a:prstGeom>
          <a:solidFill>
            <a:srgbClr val="A67C5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91840" y="10972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58%</a:t>
            </a:r>
            <a:endParaRPr lang="en-US" sz="600" dirty="0"/>
          </a:p>
        </p:txBody>
      </p:sp>
      <p:sp>
        <p:nvSpPr>
          <p:cNvPr id="25" name="Shape 23"/>
          <p:cNvSpPr/>
          <p:nvPr/>
        </p:nvSpPr>
        <p:spPr>
          <a:xfrm>
            <a:off x="3675888" y="1097280"/>
            <a:ext cx="384048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75888" y="10972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72%</a:t>
            </a:r>
            <a:endParaRPr lang="en-US" sz="600" dirty="0"/>
          </a:p>
        </p:txBody>
      </p:sp>
      <p:sp>
        <p:nvSpPr>
          <p:cNvPr id="27" name="Shape 25"/>
          <p:cNvSpPr/>
          <p:nvPr/>
        </p:nvSpPr>
        <p:spPr>
          <a:xfrm>
            <a:off x="4059936" y="1097280"/>
            <a:ext cx="384048" cy="384048"/>
          </a:xfrm>
          <a:prstGeom prst="rect">
            <a:avLst/>
          </a:prstGeom>
          <a:solidFill>
            <a:srgbClr val="6B8F8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059936" y="10972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71%</a:t>
            </a:r>
            <a:endParaRPr lang="en-US" sz="600" dirty="0"/>
          </a:p>
        </p:txBody>
      </p:sp>
      <p:sp>
        <p:nvSpPr>
          <p:cNvPr id="29" name="Text 27"/>
          <p:cNvSpPr/>
          <p:nvPr/>
        </p:nvSpPr>
        <p:spPr>
          <a:xfrm>
            <a:off x="274320" y="1481328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2C2C2C"/>
                </a:solidFill>
              </a:rPr>
              <a:t>Fizzz3</a:t>
            </a:r>
            <a:endParaRPr lang="en-US" sz="600" dirty="0"/>
          </a:p>
        </p:txBody>
      </p:sp>
      <p:sp>
        <p:nvSpPr>
          <p:cNvPr id="30" name="Shape 28"/>
          <p:cNvSpPr/>
          <p:nvPr/>
        </p:nvSpPr>
        <p:spPr>
          <a:xfrm>
            <a:off x="1371600" y="1481328"/>
            <a:ext cx="384048" cy="384048"/>
          </a:xfrm>
          <a:prstGeom prst="rect">
            <a:avLst/>
          </a:prstGeom>
          <a:solidFill>
            <a:srgbClr val="5FA96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371600" y="148132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78%</a:t>
            </a:r>
            <a:endParaRPr lang="en-US" sz="600" dirty="0"/>
          </a:p>
        </p:txBody>
      </p:sp>
      <p:sp>
        <p:nvSpPr>
          <p:cNvPr id="32" name="Shape 30"/>
          <p:cNvSpPr/>
          <p:nvPr/>
        </p:nvSpPr>
        <p:spPr>
          <a:xfrm>
            <a:off x="1755648" y="1481328"/>
            <a:ext cx="384048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39696" y="1481328"/>
            <a:ext cx="384048" cy="384048"/>
          </a:xfrm>
          <a:prstGeom prst="rect">
            <a:avLst/>
          </a:prstGeom>
          <a:solidFill>
            <a:srgbClr val="81B85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39696" y="148132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85%</a:t>
            </a:r>
            <a:endParaRPr lang="en-US" sz="600" dirty="0"/>
          </a:p>
        </p:txBody>
      </p:sp>
      <p:sp>
        <p:nvSpPr>
          <p:cNvPr id="35" name="Shape 33"/>
          <p:cNvSpPr/>
          <p:nvPr/>
        </p:nvSpPr>
        <p:spPr>
          <a:xfrm>
            <a:off x="2523744" y="1481328"/>
            <a:ext cx="384048" cy="384048"/>
          </a:xfrm>
          <a:prstGeom prst="rect">
            <a:avLst/>
          </a:prstGeom>
          <a:solidFill>
            <a:srgbClr val="81B85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523744" y="148132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81%</a:t>
            </a:r>
            <a:endParaRPr lang="en-US" sz="600" dirty="0"/>
          </a:p>
        </p:txBody>
      </p:sp>
      <p:sp>
        <p:nvSpPr>
          <p:cNvPr id="37" name="Shape 35"/>
          <p:cNvSpPr/>
          <p:nvPr/>
        </p:nvSpPr>
        <p:spPr>
          <a:xfrm>
            <a:off x="2907792" y="1481328"/>
            <a:ext cx="384048" cy="384048"/>
          </a:xfrm>
          <a:prstGeom prst="rect">
            <a:avLst/>
          </a:prstGeom>
          <a:solidFill>
            <a:srgbClr val="D4A57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907792" y="148132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68%</a:t>
            </a:r>
            <a:endParaRPr lang="en-US" sz="600" dirty="0"/>
          </a:p>
        </p:txBody>
      </p:sp>
      <p:sp>
        <p:nvSpPr>
          <p:cNvPr id="39" name="Shape 37"/>
          <p:cNvSpPr/>
          <p:nvPr/>
        </p:nvSpPr>
        <p:spPr>
          <a:xfrm>
            <a:off x="3291840" y="1481328"/>
            <a:ext cx="384048" cy="384048"/>
          </a:xfrm>
          <a:prstGeom prst="rect">
            <a:avLst/>
          </a:prstGeom>
          <a:solidFill>
            <a:srgbClr val="8B735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148132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64%</a:t>
            </a:r>
            <a:endParaRPr lang="en-US" sz="600" dirty="0"/>
          </a:p>
        </p:txBody>
      </p:sp>
      <p:sp>
        <p:nvSpPr>
          <p:cNvPr id="41" name="Shape 39"/>
          <p:cNvSpPr/>
          <p:nvPr/>
        </p:nvSpPr>
        <p:spPr>
          <a:xfrm>
            <a:off x="3675888" y="1481328"/>
            <a:ext cx="384048" cy="384048"/>
          </a:xfrm>
          <a:prstGeom prst="rect">
            <a:avLst/>
          </a:prstGeom>
          <a:solidFill>
            <a:srgbClr val="D4A57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75888" y="148132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70%</a:t>
            </a:r>
            <a:endParaRPr lang="en-US" sz="600" dirty="0"/>
          </a:p>
        </p:txBody>
      </p:sp>
      <p:sp>
        <p:nvSpPr>
          <p:cNvPr id="43" name="Shape 41"/>
          <p:cNvSpPr/>
          <p:nvPr/>
        </p:nvSpPr>
        <p:spPr>
          <a:xfrm>
            <a:off x="4059936" y="1481328"/>
            <a:ext cx="384048" cy="384048"/>
          </a:xfrm>
          <a:prstGeom prst="rect">
            <a:avLst/>
          </a:prstGeom>
          <a:solidFill>
            <a:srgbClr val="8B735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59936" y="148132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63%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274320" y="186537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2C2C2C"/>
                </a:solidFill>
              </a:rPr>
              <a:t>Capn'Kirk</a:t>
            </a:r>
            <a:endParaRPr lang="en-US" sz="600" dirty="0"/>
          </a:p>
        </p:txBody>
      </p:sp>
      <p:sp>
        <p:nvSpPr>
          <p:cNvPr id="46" name="Shape 44"/>
          <p:cNvSpPr/>
          <p:nvPr/>
        </p:nvSpPr>
        <p:spPr>
          <a:xfrm>
            <a:off x="1371600" y="1865376"/>
            <a:ext cx="384048" cy="384048"/>
          </a:xfrm>
          <a:prstGeom prst="rect">
            <a:avLst/>
          </a:prstGeom>
          <a:solidFill>
            <a:srgbClr val="5FA96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371600" y="186537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80%</a:t>
            </a:r>
            <a:endParaRPr lang="en-US" sz="600" dirty="0"/>
          </a:p>
        </p:txBody>
      </p:sp>
      <p:sp>
        <p:nvSpPr>
          <p:cNvPr id="48" name="Shape 46"/>
          <p:cNvSpPr/>
          <p:nvPr/>
        </p:nvSpPr>
        <p:spPr>
          <a:xfrm>
            <a:off x="1755648" y="1865376"/>
            <a:ext cx="384048" cy="384048"/>
          </a:xfrm>
          <a:prstGeom prst="rect">
            <a:avLst/>
          </a:prstGeom>
          <a:solidFill>
            <a:srgbClr val="81B85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755648" y="186537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85%</a:t>
            </a:r>
            <a:endParaRPr lang="en-US" sz="600" dirty="0"/>
          </a:p>
        </p:txBody>
      </p:sp>
      <p:sp>
        <p:nvSpPr>
          <p:cNvPr id="50" name="Shape 48"/>
          <p:cNvSpPr/>
          <p:nvPr/>
        </p:nvSpPr>
        <p:spPr>
          <a:xfrm>
            <a:off x="2139696" y="1865376"/>
            <a:ext cx="384048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523744" y="1865376"/>
            <a:ext cx="384048" cy="384048"/>
          </a:xfrm>
          <a:prstGeom prst="rect">
            <a:avLst/>
          </a:prstGeom>
          <a:solidFill>
            <a:srgbClr val="D4A57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23744" y="186537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79%</a:t>
            </a:r>
            <a:endParaRPr lang="en-US" sz="600" dirty="0"/>
          </a:p>
        </p:txBody>
      </p:sp>
      <p:sp>
        <p:nvSpPr>
          <p:cNvPr id="53" name="Shape 51"/>
          <p:cNvSpPr/>
          <p:nvPr/>
        </p:nvSpPr>
        <p:spPr>
          <a:xfrm>
            <a:off x="2907792" y="1865376"/>
            <a:ext cx="384048" cy="384048"/>
          </a:xfrm>
          <a:prstGeom prst="rect">
            <a:avLst/>
          </a:prstGeom>
          <a:solidFill>
            <a:srgbClr val="5FA96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907792" y="186537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72%</a:t>
            </a:r>
            <a:endParaRPr lang="en-US" sz="600" dirty="0"/>
          </a:p>
        </p:txBody>
      </p:sp>
      <p:sp>
        <p:nvSpPr>
          <p:cNvPr id="55" name="Shape 53"/>
          <p:cNvSpPr/>
          <p:nvPr/>
        </p:nvSpPr>
        <p:spPr>
          <a:xfrm>
            <a:off x="3291840" y="1865376"/>
            <a:ext cx="384048" cy="384048"/>
          </a:xfrm>
          <a:prstGeom prst="rect">
            <a:avLst/>
          </a:prstGeom>
          <a:solidFill>
            <a:srgbClr val="A67C5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291840" y="186537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61%</a:t>
            </a:r>
            <a:endParaRPr lang="en-US" sz="600" dirty="0"/>
          </a:p>
        </p:txBody>
      </p:sp>
      <p:sp>
        <p:nvSpPr>
          <p:cNvPr id="57" name="Shape 55"/>
          <p:cNvSpPr/>
          <p:nvPr/>
        </p:nvSpPr>
        <p:spPr>
          <a:xfrm>
            <a:off x="3675888" y="1865376"/>
            <a:ext cx="384048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675888" y="186537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75%</a:t>
            </a:r>
            <a:endParaRPr lang="en-US" sz="600" dirty="0"/>
          </a:p>
        </p:txBody>
      </p:sp>
      <p:sp>
        <p:nvSpPr>
          <p:cNvPr id="59" name="Shape 57"/>
          <p:cNvSpPr/>
          <p:nvPr/>
        </p:nvSpPr>
        <p:spPr>
          <a:xfrm>
            <a:off x="4059936" y="1865376"/>
            <a:ext cx="384048" cy="384048"/>
          </a:xfrm>
          <a:prstGeom prst="rect">
            <a:avLst/>
          </a:prstGeom>
          <a:solidFill>
            <a:srgbClr val="8B735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59936" y="186537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62%</a:t>
            </a:r>
            <a:endParaRPr lang="en-US" sz="600" dirty="0"/>
          </a:p>
        </p:txBody>
      </p:sp>
      <p:sp>
        <p:nvSpPr>
          <p:cNvPr id="61" name="Text 59"/>
          <p:cNvSpPr/>
          <p:nvPr/>
        </p:nvSpPr>
        <p:spPr>
          <a:xfrm>
            <a:off x="274320" y="2249424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2C2C2C"/>
                </a:solidFill>
              </a:rPr>
              <a:t>Paul233365</a:t>
            </a:r>
            <a:endParaRPr lang="en-US" sz="600" dirty="0"/>
          </a:p>
        </p:txBody>
      </p:sp>
      <p:sp>
        <p:nvSpPr>
          <p:cNvPr id="62" name="Shape 60"/>
          <p:cNvSpPr/>
          <p:nvPr/>
        </p:nvSpPr>
        <p:spPr>
          <a:xfrm>
            <a:off x="1371600" y="2249424"/>
            <a:ext cx="384048" cy="384048"/>
          </a:xfrm>
          <a:prstGeom prst="rect">
            <a:avLst/>
          </a:prstGeom>
          <a:solidFill>
            <a:srgbClr val="5FA96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1371600" y="224942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82%</a:t>
            </a:r>
            <a:endParaRPr lang="en-US" sz="600" dirty="0"/>
          </a:p>
        </p:txBody>
      </p:sp>
      <p:sp>
        <p:nvSpPr>
          <p:cNvPr id="64" name="Shape 62"/>
          <p:cNvSpPr/>
          <p:nvPr/>
        </p:nvSpPr>
        <p:spPr>
          <a:xfrm>
            <a:off x="1755648" y="2249424"/>
            <a:ext cx="384048" cy="384048"/>
          </a:xfrm>
          <a:prstGeom prst="rect">
            <a:avLst/>
          </a:prstGeom>
          <a:solidFill>
            <a:srgbClr val="81B85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755648" y="224942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81%</a:t>
            </a:r>
            <a:endParaRPr lang="en-US" sz="600" dirty="0"/>
          </a:p>
        </p:txBody>
      </p:sp>
      <p:sp>
        <p:nvSpPr>
          <p:cNvPr id="66" name="Shape 64"/>
          <p:cNvSpPr/>
          <p:nvPr/>
        </p:nvSpPr>
        <p:spPr>
          <a:xfrm>
            <a:off x="2139696" y="2249424"/>
            <a:ext cx="384048" cy="384048"/>
          </a:xfrm>
          <a:prstGeom prst="rect">
            <a:avLst/>
          </a:prstGeom>
          <a:solidFill>
            <a:srgbClr val="D4A57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2139696" y="224942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79%</a:t>
            </a:r>
            <a:endParaRPr lang="en-US" sz="600" dirty="0"/>
          </a:p>
        </p:txBody>
      </p:sp>
      <p:sp>
        <p:nvSpPr>
          <p:cNvPr id="68" name="Shape 66"/>
          <p:cNvSpPr/>
          <p:nvPr/>
        </p:nvSpPr>
        <p:spPr>
          <a:xfrm>
            <a:off x="2523744" y="2249424"/>
            <a:ext cx="384048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2907792" y="2249424"/>
            <a:ext cx="384048" cy="384048"/>
          </a:xfrm>
          <a:prstGeom prst="rect">
            <a:avLst/>
          </a:prstGeom>
          <a:solidFill>
            <a:srgbClr val="8B9E6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2907792" y="224942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70%</a:t>
            </a:r>
            <a:endParaRPr lang="en-US" sz="600" dirty="0"/>
          </a:p>
        </p:txBody>
      </p:sp>
      <p:sp>
        <p:nvSpPr>
          <p:cNvPr id="71" name="Shape 69"/>
          <p:cNvSpPr/>
          <p:nvPr/>
        </p:nvSpPr>
        <p:spPr>
          <a:xfrm>
            <a:off x="3291840" y="2249424"/>
            <a:ext cx="384048" cy="384048"/>
          </a:xfrm>
          <a:prstGeom prst="rect">
            <a:avLst/>
          </a:prstGeom>
          <a:solidFill>
            <a:srgbClr val="A67C5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291840" y="224942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62%</a:t>
            </a:r>
            <a:endParaRPr lang="en-US" sz="600" dirty="0"/>
          </a:p>
        </p:txBody>
      </p:sp>
      <p:sp>
        <p:nvSpPr>
          <p:cNvPr id="73" name="Shape 71"/>
          <p:cNvSpPr/>
          <p:nvPr/>
        </p:nvSpPr>
        <p:spPr>
          <a:xfrm>
            <a:off x="3675888" y="2249424"/>
            <a:ext cx="384048" cy="384048"/>
          </a:xfrm>
          <a:prstGeom prst="rect">
            <a:avLst/>
          </a:prstGeom>
          <a:solidFill>
            <a:srgbClr val="D4A57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3675888" y="224942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68%</a:t>
            </a:r>
            <a:endParaRPr lang="en-US" sz="600" dirty="0"/>
          </a:p>
        </p:txBody>
      </p:sp>
      <p:sp>
        <p:nvSpPr>
          <p:cNvPr id="75" name="Shape 73"/>
          <p:cNvSpPr/>
          <p:nvPr/>
        </p:nvSpPr>
        <p:spPr>
          <a:xfrm>
            <a:off x="4059936" y="2249424"/>
            <a:ext cx="384048" cy="384048"/>
          </a:xfrm>
          <a:prstGeom prst="rect">
            <a:avLst/>
          </a:prstGeom>
          <a:solidFill>
            <a:srgbClr val="A67C5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059936" y="224942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60%</a:t>
            </a:r>
            <a:endParaRPr lang="en-US" sz="600" dirty="0"/>
          </a:p>
        </p:txBody>
      </p:sp>
      <p:sp>
        <p:nvSpPr>
          <p:cNvPr id="77" name="Text 75"/>
          <p:cNvSpPr/>
          <p:nvPr/>
        </p:nvSpPr>
        <p:spPr>
          <a:xfrm>
            <a:off x="274320" y="2633472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2C2C2C"/>
                </a:solidFill>
              </a:rPr>
              <a:t>twnutt</a:t>
            </a:r>
            <a:endParaRPr lang="en-US" sz="600" dirty="0"/>
          </a:p>
        </p:txBody>
      </p:sp>
      <p:sp>
        <p:nvSpPr>
          <p:cNvPr id="78" name="Shape 76"/>
          <p:cNvSpPr/>
          <p:nvPr/>
        </p:nvSpPr>
        <p:spPr>
          <a:xfrm>
            <a:off x="1371600" y="2633472"/>
            <a:ext cx="384048" cy="384048"/>
          </a:xfrm>
          <a:prstGeom prst="rect">
            <a:avLst/>
          </a:prstGeom>
          <a:solidFill>
            <a:srgbClr val="D4A57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1371600" y="263347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65%</a:t>
            </a:r>
            <a:endParaRPr lang="en-US" sz="600" dirty="0"/>
          </a:p>
        </p:txBody>
      </p:sp>
      <p:sp>
        <p:nvSpPr>
          <p:cNvPr id="80" name="Shape 78"/>
          <p:cNvSpPr/>
          <p:nvPr/>
        </p:nvSpPr>
        <p:spPr>
          <a:xfrm>
            <a:off x="1755648" y="2633472"/>
            <a:ext cx="384048" cy="384048"/>
          </a:xfrm>
          <a:prstGeom prst="rect">
            <a:avLst/>
          </a:prstGeom>
          <a:solidFill>
            <a:srgbClr val="D4A57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755648" y="263347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68%</a:t>
            </a:r>
            <a:endParaRPr lang="en-US" sz="600" dirty="0"/>
          </a:p>
        </p:txBody>
      </p:sp>
      <p:sp>
        <p:nvSpPr>
          <p:cNvPr id="82" name="Shape 80"/>
          <p:cNvSpPr/>
          <p:nvPr/>
        </p:nvSpPr>
        <p:spPr>
          <a:xfrm>
            <a:off x="2139696" y="2633472"/>
            <a:ext cx="384048" cy="384048"/>
          </a:xfrm>
          <a:prstGeom prst="rect">
            <a:avLst/>
          </a:prstGeom>
          <a:solidFill>
            <a:srgbClr val="5FA96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2139696" y="263347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72%</a:t>
            </a:r>
            <a:endParaRPr lang="en-US" sz="600" dirty="0"/>
          </a:p>
        </p:txBody>
      </p:sp>
      <p:sp>
        <p:nvSpPr>
          <p:cNvPr id="84" name="Shape 82"/>
          <p:cNvSpPr/>
          <p:nvPr/>
        </p:nvSpPr>
        <p:spPr>
          <a:xfrm>
            <a:off x="2523744" y="2633472"/>
            <a:ext cx="384048" cy="384048"/>
          </a:xfrm>
          <a:prstGeom prst="rect">
            <a:avLst/>
          </a:prstGeom>
          <a:solidFill>
            <a:srgbClr val="8B9E6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2523744" y="263347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70%</a:t>
            </a:r>
            <a:endParaRPr lang="en-US" sz="600" dirty="0"/>
          </a:p>
        </p:txBody>
      </p:sp>
      <p:sp>
        <p:nvSpPr>
          <p:cNvPr id="86" name="Shape 84"/>
          <p:cNvSpPr/>
          <p:nvPr/>
        </p:nvSpPr>
        <p:spPr>
          <a:xfrm>
            <a:off x="2907792" y="2633472"/>
            <a:ext cx="384048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3291840" y="2633472"/>
            <a:ext cx="384048" cy="384048"/>
          </a:xfrm>
          <a:prstGeom prst="rect">
            <a:avLst/>
          </a:prstGeom>
          <a:solidFill>
            <a:srgbClr val="A67C5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3291840" y="263347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55%</a:t>
            </a:r>
            <a:endParaRPr lang="en-US" sz="600" dirty="0"/>
          </a:p>
        </p:txBody>
      </p:sp>
      <p:sp>
        <p:nvSpPr>
          <p:cNvPr id="89" name="Shape 87"/>
          <p:cNvSpPr/>
          <p:nvPr/>
        </p:nvSpPr>
        <p:spPr>
          <a:xfrm>
            <a:off x="3675888" y="2633472"/>
            <a:ext cx="384048" cy="384048"/>
          </a:xfrm>
          <a:prstGeom prst="rect">
            <a:avLst/>
          </a:prstGeom>
          <a:solidFill>
            <a:srgbClr val="D4A57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3675888" y="263347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66%</a:t>
            </a:r>
            <a:endParaRPr lang="en-US" sz="600" dirty="0"/>
          </a:p>
        </p:txBody>
      </p:sp>
      <p:sp>
        <p:nvSpPr>
          <p:cNvPr id="91" name="Shape 89"/>
          <p:cNvSpPr/>
          <p:nvPr/>
        </p:nvSpPr>
        <p:spPr>
          <a:xfrm>
            <a:off x="4059936" y="2633472"/>
            <a:ext cx="384048" cy="384048"/>
          </a:xfrm>
          <a:prstGeom prst="rect">
            <a:avLst/>
          </a:prstGeom>
          <a:solidFill>
            <a:srgbClr val="8B735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4059936" y="263347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58%</a:t>
            </a:r>
            <a:endParaRPr lang="en-US" sz="600" dirty="0"/>
          </a:p>
        </p:txBody>
      </p:sp>
      <p:sp>
        <p:nvSpPr>
          <p:cNvPr id="93" name="Text 91"/>
          <p:cNvSpPr/>
          <p:nvPr/>
        </p:nvSpPr>
        <p:spPr>
          <a:xfrm>
            <a:off x="274320" y="3017520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2C2C2C"/>
                </a:solidFill>
              </a:rPr>
              <a:t>inursha</a:t>
            </a:r>
            <a:endParaRPr lang="en-US" sz="600" dirty="0"/>
          </a:p>
        </p:txBody>
      </p:sp>
      <p:sp>
        <p:nvSpPr>
          <p:cNvPr id="94" name="Shape 92"/>
          <p:cNvSpPr/>
          <p:nvPr/>
        </p:nvSpPr>
        <p:spPr>
          <a:xfrm>
            <a:off x="1371600" y="3017520"/>
            <a:ext cx="384048" cy="384048"/>
          </a:xfrm>
          <a:prstGeom prst="rect">
            <a:avLst/>
          </a:prstGeom>
          <a:solidFill>
            <a:srgbClr val="A67C5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1371600" y="30175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58%</a:t>
            </a:r>
            <a:endParaRPr lang="en-US" sz="600" dirty="0"/>
          </a:p>
        </p:txBody>
      </p:sp>
      <p:sp>
        <p:nvSpPr>
          <p:cNvPr id="96" name="Shape 94"/>
          <p:cNvSpPr/>
          <p:nvPr/>
        </p:nvSpPr>
        <p:spPr>
          <a:xfrm>
            <a:off x="1755648" y="3017520"/>
            <a:ext cx="384048" cy="384048"/>
          </a:xfrm>
          <a:prstGeom prst="rect">
            <a:avLst/>
          </a:prstGeom>
          <a:solidFill>
            <a:srgbClr val="8B735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1755648" y="30175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64%</a:t>
            </a:r>
            <a:endParaRPr lang="en-US" sz="600" dirty="0"/>
          </a:p>
        </p:txBody>
      </p:sp>
      <p:sp>
        <p:nvSpPr>
          <p:cNvPr id="98" name="Shape 96"/>
          <p:cNvSpPr/>
          <p:nvPr/>
        </p:nvSpPr>
        <p:spPr>
          <a:xfrm>
            <a:off x="2139696" y="3017520"/>
            <a:ext cx="384048" cy="384048"/>
          </a:xfrm>
          <a:prstGeom prst="rect">
            <a:avLst/>
          </a:prstGeom>
          <a:solidFill>
            <a:srgbClr val="A67C5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2139696" y="30175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61%</a:t>
            </a:r>
            <a:endParaRPr lang="en-US" sz="600" dirty="0"/>
          </a:p>
        </p:txBody>
      </p:sp>
      <p:sp>
        <p:nvSpPr>
          <p:cNvPr id="100" name="Shape 98"/>
          <p:cNvSpPr/>
          <p:nvPr/>
        </p:nvSpPr>
        <p:spPr>
          <a:xfrm>
            <a:off x="2523744" y="3017520"/>
            <a:ext cx="384048" cy="384048"/>
          </a:xfrm>
          <a:prstGeom prst="rect">
            <a:avLst/>
          </a:prstGeom>
          <a:solidFill>
            <a:srgbClr val="A67C5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2523744" y="30175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62%</a:t>
            </a:r>
            <a:endParaRPr lang="en-US" sz="600" dirty="0"/>
          </a:p>
        </p:txBody>
      </p:sp>
      <p:sp>
        <p:nvSpPr>
          <p:cNvPr id="102" name="Shape 100"/>
          <p:cNvSpPr/>
          <p:nvPr/>
        </p:nvSpPr>
        <p:spPr>
          <a:xfrm>
            <a:off x="2907792" y="3017520"/>
            <a:ext cx="384048" cy="384048"/>
          </a:xfrm>
          <a:prstGeom prst="rect">
            <a:avLst/>
          </a:prstGeom>
          <a:solidFill>
            <a:srgbClr val="A67C5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2907792" y="30175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55%</a:t>
            </a:r>
            <a:endParaRPr lang="en-US" sz="600" dirty="0"/>
          </a:p>
        </p:txBody>
      </p:sp>
      <p:sp>
        <p:nvSpPr>
          <p:cNvPr id="104" name="Shape 102"/>
          <p:cNvSpPr/>
          <p:nvPr/>
        </p:nvSpPr>
        <p:spPr>
          <a:xfrm>
            <a:off x="3291840" y="3017520"/>
            <a:ext cx="384048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3675888" y="3017520"/>
            <a:ext cx="384048" cy="384048"/>
          </a:xfrm>
          <a:prstGeom prst="rect">
            <a:avLst/>
          </a:prstGeom>
          <a:solidFill>
            <a:srgbClr val="D4A57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3675888" y="30175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64%</a:t>
            </a:r>
            <a:endParaRPr lang="en-US" sz="600" dirty="0"/>
          </a:p>
        </p:txBody>
      </p:sp>
      <p:sp>
        <p:nvSpPr>
          <p:cNvPr id="107" name="Shape 105"/>
          <p:cNvSpPr/>
          <p:nvPr/>
        </p:nvSpPr>
        <p:spPr>
          <a:xfrm>
            <a:off x="4059936" y="3017520"/>
            <a:ext cx="384048" cy="384048"/>
          </a:xfrm>
          <a:prstGeom prst="rect">
            <a:avLst/>
          </a:prstGeom>
          <a:solidFill>
            <a:srgbClr val="D4A57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059936" y="30175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61%</a:t>
            </a:r>
            <a:endParaRPr lang="en-US" sz="600" dirty="0"/>
          </a:p>
        </p:txBody>
      </p:sp>
      <p:sp>
        <p:nvSpPr>
          <p:cNvPr id="109" name="Text 107"/>
          <p:cNvSpPr/>
          <p:nvPr/>
        </p:nvSpPr>
        <p:spPr>
          <a:xfrm>
            <a:off x="274320" y="3401568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2C2C2C"/>
                </a:solidFill>
              </a:rPr>
              <a:t>ESPNFAN8289368577</a:t>
            </a:r>
            <a:endParaRPr lang="en-US" sz="600" dirty="0"/>
          </a:p>
        </p:txBody>
      </p:sp>
      <p:sp>
        <p:nvSpPr>
          <p:cNvPr id="110" name="Shape 108"/>
          <p:cNvSpPr/>
          <p:nvPr/>
        </p:nvSpPr>
        <p:spPr>
          <a:xfrm>
            <a:off x="1371600" y="3401568"/>
            <a:ext cx="384048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1371600" y="340156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72%</a:t>
            </a:r>
            <a:endParaRPr lang="en-US" sz="600" dirty="0"/>
          </a:p>
        </p:txBody>
      </p:sp>
      <p:sp>
        <p:nvSpPr>
          <p:cNvPr id="112" name="Shape 110"/>
          <p:cNvSpPr/>
          <p:nvPr/>
        </p:nvSpPr>
        <p:spPr>
          <a:xfrm>
            <a:off x="1755648" y="3401568"/>
            <a:ext cx="384048" cy="384048"/>
          </a:xfrm>
          <a:prstGeom prst="rect">
            <a:avLst/>
          </a:prstGeom>
          <a:solidFill>
            <a:srgbClr val="D4A57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1755648" y="340156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70%</a:t>
            </a:r>
            <a:endParaRPr lang="en-US" sz="600" dirty="0"/>
          </a:p>
        </p:txBody>
      </p:sp>
      <p:sp>
        <p:nvSpPr>
          <p:cNvPr id="114" name="Shape 112"/>
          <p:cNvSpPr/>
          <p:nvPr/>
        </p:nvSpPr>
        <p:spPr>
          <a:xfrm>
            <a:off x="2139696" y="3401568"/>
            <a:ext cx="384048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2139696" y="340156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75%</a:t>
            </a:r>
            <a:endParaRPr lang="en-US" sz="600" dirty="0"/>
          </a:p>
        </p:txBody>
      </p:sp>
      <p:sp>
        <p:nvSpPr>
          <p:cNvPr id="116" name="Shape 114"/>
          <p:cNvSpPr/>
          <p:nvPr/>
        </p:nvSpPr>
        <p:spPr>
          <a:xfrm>
            <a:off x="2523744" y="3401568"/>
            <a:ext cx="384048" cy="384048"/>
          </a:xfrm>
          <a:prstGeom prst="rect">
            <a:avLst/>
          </a:prstGeom>
          <a:solidFill>
            <a:srgbClr val="D4A57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2523744" y="340156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68%</a:t>
            </a:r>
            <a:endParaRPr lang="en-US" sz="600" dirty="0"/>
          </a:p>
        </p:txBody>
      </p:sp>
      <p:sp>
        <p:nvSpPr>
          <p:cNvPr id="118" name="Shape 116"/>
          <p:cNvSpPr/>
          <p:nvPr/>
        </p:nvSpPr>
        <p:spPr>
          <a:xfrm>
            <a:off x="2907792" y="3401568"/>
            <a:ext cx="384048" cy="384048"/>
          </a:xfrm>
          <a:prstGeom prst="rect">
            <a:avLst/>
          </a:prstGeom>
          <a:solidFill>
            <a:srgbClr val="D4A57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2907792" y="340156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66%</a:t>
            </a:r>
            <a:endParaRPr lang="en-US" sz="600" dirty="0"/>
          </a:p>
        </p:txBody>
      </p:sp>
      <p:sp>
        <p:nvSpPr>
          <p:cNvPr id="120" name="Shape 118"/>
          <p:cNvSpPr/>
          <p:nvPr/>
        </p:nvSpPr>
        <p:spPr>
          <a:xfrm>
            <a:off x="3291840" y="3401568"/>
            <a:ext cx="384048" cy="384048"/>
          </a:xfrm>
          <a:prstGeom prst="rect">
            <a:avLst/>
          </a:prstGeom>
          <a:solidFill>
            <a:srgbClr val="D4A57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3291840" y="340156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64%</a:t>
            </a:r>
            <a:endParaRPr lang="en-US" sz="600" dirty="0"/>
          </a:p>
        </p:txBody>
      </p:sp>
      <p:sp>
        <p:nvSpPr>
          <p:cNvPr id="122" name="Shape 120"/>
          <p:cNvSpPr/>
          <p:nvPr/>
        </p:nvSpPr>
        <p:spPr>
          <a:xfrm>
            <a:off x="3675888" y="3401568"/>
            <a:ext cx="384048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4059936" y="3401568"/>
            <a:ext cx="384048" cy="384048"/>
          </a:xfrm>
          <a:prstGeom prst="rect">
            <a:avLst/>
          </a:prstGeom>
          <a:solidFill>
            <a:srgbClr val="8B735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4059936" y="340156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59%</a:t>
            </a:r>
            <a:endParaRPr lang="en-US" sz="600" dirty="0"/>
          </a:p>
        </p:txBody>
      </p:sp>
      <p:sp>
        <p:nvSpPr>
          <p:cNvPr id="125" name="Text 123"/>
          <p:cNvSpPr/>
          <p:nvPr/>
        </p:nvSpPr>
        <p:spPr>
          <a:xfrm>
            <a:off x="274320" y="378561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2C2C2C"/>
                </a:solidFill>
              </a:rPr>
              <a:t>ESPNFAN9699154365</a:t>
            </a:r>
            <a:endParaRPr lang="en-US" sz="600" dirty="0"/>
          </a:p>
        </p:txBody>
      </p:sp>
      <p:sp>
        <p:nvSpPr>
          <p:cNvPr id="126" name="Shape 124"/>
          <p:cNvSpPr/>
          <p:nvPr/>
        </p:nvSpPr>
        <p:spPr>
          <a:xfrm>
            <a:off x="1371600" y="3785616"/>
            <a:ext cx="384048" cy="384048"/>
          </a:xfrm>
          <a:prstGeom prst="rect">
            <a:avLst/>
          </a:prstGeom>
          <a:solidFill>
            <a:srgbClr val="6B8F8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1371600" y="378561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71%</a:t>
            </a:r>
            <a:endParaRPr lang="en-US" sz="600" dirty="0"/>
          </a:p>
        </p:txBody>
      </p:sp>
      <p:sp>
        <p:nvSpPr>
          <p:cNvPr id="128" name="Shape 126"/>
          <p:cNvSpPr/>
          <p:nvPr/>
        </p:nvSpPr>
        <p:spPr>
          <a:xfrm>
            <a:off x="1755648" y="3785616"/>
            <a:ext cx="384048" cy="384048"/>
          </a:xfrm>
          <a:prstGeom prst="rect">
            <a:avLst/>
          </a:prstGeom>
          <a:solidFill>
            <a:srgbClr val="8B735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1755648" y="378561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63%</a:t>
            </a:r>
            <a:endParaRPr lang="en-US" sz="600" dirty="0"/>
          </a:p>
        </p:txBody>
      </p:sp>
      <p:sp>
        <p:nvSpPr>
          <p:cNvPr id="130" name="Shape 128"/>
          <p:cNvSpPr/>
          <p:nvPr/>
        </p:nvSpPr>
        <p:spPr>
          <a:xfrm>
            <a:off x="2139696" y="3785616"/>
            <a:ext cx="384048" cy="384048"/>
          </a:xfrm>
          <a:prstGeom prst="rect">
            <a:avLst/>
          </a:prstGeom>
          <a:solidFill>
            <a:srgbClr val="8B735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2139696" y="378561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62%</a:t>
            </a:r>
            <a:endParaRPr lang="en-US" sz="600" dirty="0"/>
          </a:p>
        </p:txBody>
      </p:sp>
      <p:sp>
        <p:nvSpPr>
          <p:cNvPr id="132" name="Shape 130"/>
          <p:cNvSpPr/>
          <p:nvPr/>
        </p:nvSpPr>
        <p:spPr>
          <a:xfrm>
            <a:off x="2523744" y="3785616"/>
            <a:ext cx="384048" cy="384048"/>
          </a:xfrm>
          <a:prstGeom prst="rect">
            <a:avLst/>
          </a:prstGeom>
          <a:solidFill>
            <a:srgbClr val="A67C5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2523744" y="378561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60%</a:t>
            </a:r>
            <a:endParaRPr lang="en-US" sz="600" dirty="0"/>
          </a:p>
        </p:txBody>
      </p:sp>
      <p:sp>
        <p:nvSpPr>
          <p:cNvPr id="134" name="Shape 132"/>
          <p:cNvSpPr/>
          <p:nvPr/>
        </p:nvSpPr>
        <p:spPr>
          <a:xfrm>
            <a:off x="2907792" y="3785616"/>
            <a:ext cx="384048" cy="384048"/>
          </a:xfrm>
          <a:prstGeom prst="rect">
            <a:avLst/>
          </a:prstGeom>
          <a:solidFill>
            <a:srgbClr val="8B735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2907792" y="378561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58%</a:t>
            </a:r>
            <a:endParaRPr lang="en-US" sz="600" dirty="0"/>
          </a:p>
        </p:txBody>
      </p:sp>
      <p:sp>
        <p:nvSpPr>
          <p:cNvPr id="136" name="Shape 134"/>
          <p:cNvSpPr/>
          <p:nvPr/>
        </p:nvSpPr>
        <p:spPr>
          <a:xfrm>
            <a:off x="3291840" y="3785616"/>
            <a:ext cx="384048" cy="384048"/>
          </a:xfrm>
          <a:prstGeom prst="rect">
            <a:avLst/>
          </a:prstGeom>
          <a:solidFill>
            <a:srgbClr val="D4A574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3291840" y="378561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61%</a:t>
            </a:r>
            <a:endParaRPr lang="en-US" sz="600" dirty="0"/>
          </a:p>
        </p:txBody>
      </p:sp>
      <p:sp>
        <p:nvSpPr>
          <p:cNvPr id="138" name="Shape 136"/>
          <p:cNvSpPr/>
          <p:nvPr/>
        </p:nvSpPr>
        <p:spPr>
          <a:xfrm>
            <a:off x="3675888" y="3785616"/>
            <a:ext cx="384048" cy="384048"/>
          </a:xfrm>
          <a:prstGeom prst="rect">
            <a:avLst/>
          </a:prstGeom>
          <a:solidFill>
            <a:srgbClr val="8B7355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3675888" y="378561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</a:rPr>
              <a:t>59%</a:t>
            </a:r>
            <a:endParaRPr lang="en-US" sz="600" dirty="0"/>
          </a:p>
        </p:txBody>
      </p:sp>
      <p:sp>
        <p:nvSpPr>
          <p:cNvPr id="140" name="Shape 138"/>
          <p:cNvSpPr/>
          <p:nvPr/>
        </p:nvSpPr>
        <p:spPr>
          <a:xfrm>
            <a:off x="4059936" y="3785616"/>
            <a:ext cx="384048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1371600" y="429768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2C2C"/>
                </a:solidFill>
              </a:rPr>
              <a:t>LEGEND</a:t>
            </a:r>
            <a:endParaRPr lang="en-US" sz="800" dirty="0"/>
          </a:p>
        </p:txBody>
      </p:sp>
      <p:sp>
        <p:nvSpPr>
          <p:cNvPr id="142" name="Shape 140"/>
          <p:cNvSpPr/>
          <p:nvPr/>
        </p:nvSpPr>
        <p:spPr>
          <a:xfrm>
            <a:off x="1371600" y="4526280"/>
            <a:ext cx="137160" cy="137160"/>
          </a:xfrm>
          <a:prstGeom prst="rect">
            <a:avLst/>
          </a:prstGeom>
          <a:solidFill>
            <a:srgbClr val="5FA96B"/>
          </a:solidFill>
          <a:ln/>
        </p:spPr>
      </p:sp>
      <p:sp>
        <p:nvSpPr>
          <p:cNvPr id="143" name="Text 141"/>
          <p:cNvSpPr/>
          <p:nvPr/>
        </p:nvSpPr>
        <p:spPr>
          <a:xfrm>
            <a:off x="1554480" y="4526280"/>
            <a:ext cx="7315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2C2C2C"/>
                </a:solidFill>
              </a:rPr>
              <a:t>80%+</a:t>
            </a:r>
            <a:endParaRPr lang="en-US" sz="700" dirty="0"/>
          </a:p>
        </p:txBody>
      </p:sp>
      <p:sp>
        <p:nvSpPr>
          <p:cNvPr id="144" name="Shape 142"/>
          <p:cNvSpPr/>
          <p:nvPr/>
        </p:nvSpPr>
        <p:spPr>
          <a:xfrm>
            <a:off x="2468880" y="4526280"/>
            <a:ext cx="137160" cy="137160"/>
          </a:xfrm>
          <a:prstGeom prst="rect">
            <a:avLst/>
          </a:prstGeom>
          <a:solidFill>
            <a:srgbClr val="D4A574"/>
          </a:solidFill>
          <a:ln/>
        </p:spPr>
      </p:sp>
      <p:sp>
        <p:nvSpPr>
          <p:cNvPr id="145" name="Text 143"/>
          <p:cNvSpPr/>
          <p:nvPr/>
        </p:nvSpPr>
        <p:spPr>
          <a:xfrm>
            <a:off x="2651760" y="4526280"/>
            <a:ext cx="7315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2C2C2C"/>
                </a:solidFill>
              </a:rPr>
              <a:t>73-79%</a:t>
            </a:r>
            <a:endParaRPr lang="en-US" sz="700" dirty="0"/>
          </a:p>
        </p:txBody>
      </p:sp>
      <p:sp>
        <p:nvSpPr>
          <p:cNvPr id="146" name="Shape 144"/>
          <p:cNvSpPr/>
          <p:nvPr/>
        </p:nvSpPr>
        <p:spPr>
          <a:xfrm>
            <a:off x="3566160" y="4526280"/>
            <a:ext cx="137160" cy="137160"/>
          </a:xfrm>
          <a:prstGeom prst="rect">
            <a:avLst/>
          </a:prstGeom>
          <a:solidFill>
            <a:srgbClr val="A67C52"/>
          </a:solidFill>
          <a:ln/>
        </p:spPr>
      </p:sp>
      <p:sp>
        <p:nvSpPr>
          <p:cNvPr id="147" name="Text 145"/>
          <p:cNvSpPr/>
          <p:nvPr/>
        </p:nvSpPr>
        <p:spPr>
          <a:xfrm>
            <a:off x="3749040" y="4526280"/>
            <a:ext cx="7315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2C2C2C"/>
                </a:solidFill>
              </a:rPr>
              <a:t>66-72%</a:t>
            </a:r>
            <a:endParaRPr lang="en-US" sz="700" dirty="0"/>
          </a:p>
        </p:txBody>
      </p:sp>
      <p:sp>
        <p:nvSpPr>
          <p:cNvPr id="148" name="Shape 146"/>
          <p:cNvSpPr/>
          <p:nvPr/>
        </p:nvSpPr>
        <p:spPr>
          <a:xfrm>
            <a:off x="4663440" y="4526280"/>
            <a:ext cx="137160" cy="137160"/>
          </a:xfrm>
          <a:prstGeom prst="rect">
            <a:avLst/>
          </a:prstGeom>
          <a:solidFill>
            <a:srgbClr val="8B7355"/>
          </a:solidFill>
          <a:ln/>
        </p:spPr>
      </p:sp>
      <p:sp>
        <p:nvSpPr>
          <p:cNvPr id="149" name="Text 147"/>
          <p:cNvSpPr/>
          <p:nvPr/>
        </p:nvSpPr>
        <p:spPr>
          <a:xfrm>
            <a:off x="4846320" y="4526280"/>
            <a:ext cx="73152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2C2C2C"/>
                </a:solidFill>
              </a:rPr>
              <a:t>&lt;66%</a:t>
            </a:r>
            <a:endParaRPr lang="en-US" sz="700" dirty="0"/>
          </a:p>
        </p:txBody>
      </p:sp>
      <p:sp>
        <p:nvSpPr>
          <p:cNvPr id="150" name="Text 148"/>
          <p:cNvSpPr/>
          <p:nvPr/>
        </p:nvSpPr>
        <p:spPr>
          <a:xfrm>
            <a:off x="274320" y="4800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Powered by Claude</a:t>
            </a:r>
            <a:endParaRPr lang="en-US" sz="900" dirty="0"/>
          </a:p>
        </p:txBody>
      </p:sp>
      <p:sp>
        <p:nvSpPr>
          <p:cNvPr id="151" name="Text 149"/>
          <p:cNvSpPr/>
          <p:nvPr/>
        </p:nvSpPr>
        <p:spPr>
          <a:xfrm>
            <a:off x="841248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10 / 17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DC1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005840" y="2286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Momentum &amp; Accuracy by Round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371600" y="658368"/>
            <a:ext cx="7315200" cy="18288"/>
          </a:xfrm>
          <a:prstGeom prst="rect">
            <a:avLst/>
          </a:prstGeom>
          <a:solidFill>
            <a:srgbClr val="DC1A41"/>
          </a:solidFill>
          <a:ln/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914400"/>
          <a:ext cx="8503920" cy="3657600"/>
        </p:xfrm>
        <a:graphic>
          <a:graphicData uri="http://schemas.openxmlformats.org/drawingml/2006/table">
            <a:tbl>
              <a:tblPr/>
              <a:tblGrid>
                <a:gridCol w="2103120"/>
                <a:gridCol w="822960"/>
                <a:gridCol w="914400"/>
                <a:gridCol w="1005840"/>
                <a:gridCol w="1005840"/>
                <a:gridCol w="914400"/>
                <a:gridCol w="914400"/>
              </a:tblGrid>
              <a:tr h="406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PLAYER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WINS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LOSSES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R64 ACCY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R32 ACCY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CHALK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UNIQUE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TaylorDuran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37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29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81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Fizzz3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35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26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75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Capn'Kirk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34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25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95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Paul233365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32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24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86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twnutt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31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23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81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inursha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27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75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ESPNFAN8289368577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29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24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83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ESPNFAN9699154365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27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23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68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4800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Powered by Claude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41248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11 / 17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DC1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005840" y="2286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Chalk vs Uniqueness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371600" y="658368"/>
            <a:ext cx="7315200" cy="18288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5" name="Shape 3"/>
          <p:cNvSpPr/>
          <p:nvPr/>
        </p:nvSpPr>
        <p:spPr>
          <a:xfrm>
            <a:off x="1371600" y="4114800"/>
            <a:ext cx="6858000" cy="18288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6" name="Shape 4"/>
          <p:cNvSpPr/>
          <p:nvPr/>
        </p:nvSpPr>
        <p:spPr>
          <a:xfrm>
            <a:off x="1371600" y="1097280"/>
            <a:ext cx="18288" cy="3017520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0" y="420624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2C2C"/>
                </a:solidFill>
              </a:rPr>
              <a:t>Chalk %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868680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2C2C"/>
                </a:solidFill>
              </a:rPr>
              <a:t>Unique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36440" y="3090134"/>
            <a:ext cx="274320" cy="274320"/>
          </a:xfrm>
          <a:prstGeom prst="ellipse">
            <a:avLst/>
          </a:prstGeom>
          <a:solidFill>
            <a:srgbClr val="DC1A41"/>
          </a:solidFill>
          <a:ln/>
        </p:spPr>
      </p:sp>
      <p:sp>
        <p:nvSpPr>
          <p:cNvPr id="10" name="Text 8"/>
          <p:cNvSpPr/>
          <p:nvPr/>
        </p:nvSpPr>
        <p:spPr>
          <a:xfrm>
            <a:off x="4307840" y="2815814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2C2C2C"/>
                </a:solidFill>
              </a:rPr>
              <a:t>TaylorDuran</a:t>
            </a:r>
            <a:endParaRPr lang="en-US" sz="600" dirty="0"/>
          </a:p>
        </p:txBody>
      </p:sp>
      <p:sp>
        <p:nvSpPr>
          <p:cNvPr id="11" name="Shape 9"/>
          <p:cNvSpPr/>
          <p:nvPr/>
        </p:nvSpPr>
        <p:spPr>
          <a:xfrm>
            <a:off x="3012440" y="2202628"/>
            <a:ext cx="274320" cy="274320"/>
          </a:xfrm>
          <a:prstGeom prst="ellipse">
            <a:avLst/>
          </a:prstGeom>
          <a:solidFill>
            <a:srgbClr val="DC1A41"/>
          </a:solidFill>
          <a:ln/>
        </p:spPr>
      </p:sp>
      <p:sp>
        <p:nvSpPr>
          <p:cNvPr id="12" name="Text 10"/>
          <p:cNvSpPr/>
          <p:nvPr/>
        </p:nvSpPr>
        <p:spPr>
          <a:xfrm>
            <a:off x="2783840" y="1928308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2C2C2C"/>
                </a:solidFill>
              </a:rPr>
              <a:t>Fizzz3</a:t>
            </a:r>
            <a:endParaRPr lang="en-US" sz="600" dirty="0"/>
          </a:p>
        </p:txBody>
      </p:sp>
      <p:sp>
        <p:nvSpPr>
          <p:cNvPr id="13" name="Shape 11"/>
          <p:cNvSpPr/>
          <p:nvPr/>
        </p:nvSpPr>
        <p:spPr>
          <a:xfrm>
            <a:off x="8092440" y="3977640"/>
            <a:ext cx="274320" cy="274320"/>
          </a:xfrm>
          <a:prstGeom prst="ellipse">
            <a:avLst/>
          </a:prstGeom>
          <a:solidFill>
            <a:srgbClr val="DC1A41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0" y="370332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2C2C2C"/>
                </a:solidFill>
              </a:rPr>
              <a:t>Capn'Kirk</a:t>
            </a:r>
            <a:endParaRPr lang="en-US" sz="600" dirty="0"/>
          </a:p>
        </p:txBody>
      </p:sp>
      <p:sp>
        <p:nvSpPr>
          <p:cNvPr id="15" name="Shape 13"/>
          <p:cNvSpPr/>
          <p:nvPr/>
        </p:nvSpPr>
        <p:spPr>
          <a:xfrm>
            <a:off x="5806440" y="3445136"/>
            <a:ext cx="274320" cy="274320"/>
          </a:xfrm>
          <a:prstGeom prst="ellipse">
            <a:avLst/>
          </a:prstGeom>
          <a:solidFill>
            <a:srgbClr val="DC1A41"/>
          </a:solidFill>
          <a:ln/>
        </p:spPr>
      </p:sp>
      <p:sp>
        <p:nvSpPr>
          <p:cNvPr id="16" name="Text 14"/>
          <p:cNvSpPr/>
          <p:nvPr/>
        </p:nvSpPr>
        <p:spPr>
          <a:xfrm>
            <a:off x="5577840" y="3170816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2C2C2C"/>
                </a:solidFill>
              </a:rPr>
              <a:t>Paul233365</a:t>
            </a:r>
            <a:endParaRPr lang="en-US" sz="600" dirty="0"/>
          </a:p>
        </p:txBody>
      </p:sp>
      <p:sp>
        <p:nvSpPr>
          <p:cNvPr id="17" name="Shape 15"/>
          <p:cNvSpPr/>
          <p:nvPr/>
        </p:nvSpPr>
        <p:spPr>
          <a:xfrm>
            <a:off x="4536440" y="2912633"/>
            <a:ext cx="274320" cy="274320"/>
          </a:xfrm>
          <a:prstGeom prst="ellipse">
            <a:avLst/>
          </a:prstGeom>
          <a:solidFill>
            <a:srgbClr val="DC1A41"/>
          </a:solidFill>
          <a:ln/>
        </p:spPr>
      </p:sp>
      <p:sp>
        <p:nvSpPr>
          <p:cNvPr id="18" name="Text 16"/>
          <p:cNvSpPr/>
          <p:nvPr/>
        </p:nvSpPr>
        <p:spPr>
          <a:xfrm>
            <a:off x="4307840" y="2638313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2C2C2C"/>
                </a:solidFill>
              </a:rPr>
              <a:t>twnutt</a:t>
            </a:r>
            <a:endParaRPr lang="en-US" sz="600" dirty="0"/>
          </a:p>
        </p:txBody>
      </p:sp>
      <p:sp>
        <p:nvSpPr>
          <p:cNvPr id="19" name="Shape 17"/>
          <p:cNvSpPr/>
          <p:nvPr/>
        </p:nvSpPr>
        <p:spPr>
          <a:xfrm>
            <a:off x="3012440" y="1670125"/>
            <a:ext cx="274320" cy="274320"/>
          </a:xfrm>
          <a:prstGeom prst="ellipse">
            <a:avLst/>
          </a:prstGeom>
          <a:solidFill>
            <a:srgbClr val="DC1A41"/>
          </a:solidFill>
          <a:ln/>
        </p:spPr>
      </p:sp>
      <p:sp>
        <p:nvSpPr>
          <p:cNvPr id="20" name="Text 18"/>
          <p:cNvSpPr/>
          <p:nvPr/>
        </p:nvSpPr>
        <p:spPr>
          <a:xfrm>
            <a:off x="2783840" y="1395805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2C2C2C"/>
                </a:solidFill>
              </a:rPr>
              <a:t>inursha</a:t>
            </a:r>
            <a:endParaRPr lang="en-US" sz="600" dirty="0"/>
          </a:p>
        </p:txBody>
      </p:sp>
      <p:sp>
        <p:nvSpPr>
          <p:cNvPr id="21" name="Shape 19"/>
          <p:cNvSpPr/>
          <p:nvPr/>
        </p:nvSpPr>
        <p:spPr>
          <a:xfrm>
            <a:off x="5044440" y="2025127"/>
            <a:ext cx="274320" cy="274320"/>
          </a:xfrm>
          <a:prstGeom prst="ellipse">
            <a:avLst/>
          </a:prstGeom>
          <a:solidFill>
            <a:srgbClr val="DC1A41"/>
          </a:solidFill>
          <a:ln/>
        </p:spPr>
      </p:sp>
      <p:sp>
        <p:nvSpPr>
          <p:cNvPr id="22" name="Text 20"/>
          <p:cNvSpPr/>
          <p:nvPr/>
        </p:nvSpPr>
        <p:spPr>
          <a:xfrm>
            <a:off x="4815840" y="1750807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2C2C2C"/>
                </a:solidFill>
              </a:rPr>
              <a:t>ESPN...8577</a:t>
            </a:r>
            <a:endParaRPr lang="en-US" sz="600" dirty="0"/>
          </a:p>
        </p:txBody>
      </p:sp>
      <p:sp>
        <p:nvSpPr>
          <p:cNvPr id="23" name="Shape 21"/>
          <p:cNvSpPr/>
          <p:nvPr/>
        </p:nvSpPr>
        <p:spPr>
          <a:xfrm>
            <a:off x="1234440" y="960120"/>
            <a:ext cx="274320" cy="274320"/>
          </a:xfrm>
          <a:prstGeom prst="ellipse">
            <a:avLst/>
          </a:prstGeom>
          <a:solidFill>
            <a:srgbClr val="DC1A41"/>
          </a:solidFill>
          <a:ln/>
        </p:spPr>
      </p:sp>
      <p:sp>
        <p:nvSpPr>
          <p:cNvPr id="24" name="Text 22"/>
          <p:cNvSpPr/>
          <p:nvPr/>
        </p:nvSpPr>
        <p:spPr>
          <a:xfrm>
            <a:off x="1005840" y="68580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2C2C2C"/>
                </a:solidFill>
              </a:rPr>
              <a:t>ESPN...4365</a:t>
            </a:r>
            <a:endParaRPr lang="en-US" sz="600" dirty="0"/>
          </a:p>
        </p:txBody>
      </p:sp>
      <p:sp>
        <p:nvSpPr>
          <p:cNvPr id="25" name="Text 23"/>
          <p:cNvSpPr/>
          <p:nvPr/>
        </p:nvSpPr>
        <p:spPr>
          <a:xfrm>
            <a:off x="274320" y="4800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Powered by Claude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41248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12 / 17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DC1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005840" y="2286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Favorites vs Underdogs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371600" y="658368"/>
            <a:ext cx="7315200" cy="18288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96012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C2C2C"/>
                </a:solidFill>
              </a:rPr>
              <a:t>TaylorDuran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103120" y="987552"/>
            <a:ext cx="5250180" cy="109728"/>
          </a:xfrm>
          <a:prstGeom prst="rect">
            <a:avLst/>
          </a:prstGeom>
          <a:solidFill>
            <a:srgbClr val="2B5A7E"/>
          </a:solidFill>
          <a:ln/>
        </p:spPr>
      </p:sp>
      <p:sp>
        <p:nvSpPr>
          <p:cNvPr id="7" name="Shape 5"/>
          <p:cNvSpPr/>
          <p:nvPr/>
        </p:nvSpPr>
        <p:spPr>
          <a:xfrm>
            <a:off x="7353300" y="987552"/>
            <a:ext cx="1839686" cy="109728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8" name="Text 6"/>
          <p:cNvSpPr/>
          <p:nvPr/>
        </p:nvSpPr>
        <p:spPr>
          <a:xfrm>
            <a:off x="9284426" y="960120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2C2C"/>
                </a:solidFill>
              </a:rPr>
              <a:t>66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365760" y="1344168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C2C2C"/>
                </a:solidFill>
              </a:rPr>
              <a:t>Fizzz3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103120" y="1371600"/>
            <a:ext cx="4853940" cy="109728"/>
          </a:xfrm>
          <a:prstGeom prst="rect">
            <a:avLst/>
          </a:prstGeom>
          <a:solidFill>
            <a:srgbClr val="2B5A7E"/>
          </a:solidFill>
          <a:ln/>
        </p:spPr>
      </p:sp>
      <p:sp>
        <p:nvSpPr>
          <p:cNvPr id="11" name="Shape 9"/>
          <p:cNvSpPr/>
          <p:nvPr/>
        </p:nvSpPr>
        <p:spPr>
          <a:xfrm>
            <a:off x="6957060" y="1371600"/>
            <a:ext cx="3537857" cy="109728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12" name="Text 10"/>
          <p:cNvSpPr/>
          <p:nvPr/>
        </p:nvSpPr>
        <p:spPr>
          <a:xfrm>
            <a:off x="10586357" y="1344168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2C2C"/>
                </a:solidFill>
              </a:rPr>
              <a:t>74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65760" y="172821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C2C2C"/>
                </a:solidFill>
              </a:rPr>
              <a:t>Capn'Kirk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103120" y="1755648"/>
            <a:ext cx="6141720" cy="109728"/>
          </a:xfrm>
          <a:prstGeom prst="rect">
            <a:avLst/>
          </a:prstGeom>
          <a:solidFill>
            <a:srgbClr val="2B5A7E"/>
          </a:solidFill>
          <a:ln/>
        </p:spPr>
      </p:sp>
      <p:sp>
        <p:nvSpPr>
          <p:cNvPr id="15" name="Shape 13"/>
          <p:cNvSpPr/>
          <p:nvPr/>
        </p:nvSpPr>
        <p:spPr>
          <a:xfrm>
            <a:off x="8244840" y="1755648"/>
            <a:ext cx="0" cy="109728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16" name="Text 14"/>
          <p:cNvSpPr/>
          <p:nvPr/>
        </p:nvSpPr>
        <p:spPr>
          <a:xfrm>
            <a:off x="8336280" y="1728216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2C2C"/>
                </a:solidFill>
              </a:rPr>
              <a:t>62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65760" y="211226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C2C2C"/>
                </a:solidFill>
              </a:rPr>
              <a:t>Paul233365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2103120" y="2139696"/>
            <a:ext cx="5547360" cy="109728"/>
          </a:xfrm>
          <a:prstGeom prst="rect">
            <a:avLst/>
          </a:prstGeom>
          <a:solidFill>
            <a:srgbClr val="2B5A7E"/>
          </a:solidFill>
          <a:ln/>
        </p:spPr>
      </p:sp>
      <p:sp>
        <p:nvSpPr>
          <p:cNvPr id="19" name="Shape 17"/>
          <p:cNvSpPr/>
          <p:nvPr/>
        </p:nvSpPr>
        <p:spPr>
          <a:xfrm>
            <a:off x="7650480" y="2139696"/>
            <a:ext cx="1132114" cy="109728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20" name="Text 18"/>
          <p:cNvSpPr/>
          <p:nvPr/>
        </p:nvSpPr>
        <p:spPr>
          <a:xfrm>
            <a:off x="8874034" y="2112264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2C2C"/>
                </a:solidFill>
              </a:rPr>
              <a:t>64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65760" y="2496312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C2C2C"/>
                </a:solidFill>
              </a:rPr>
              <a:t>twnutt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103120" y="2523744"/>
            <a:ext cx="5250180" cy="109728"/>
          </a:xfrm>
          <a:prstGeom prst="rect">
            <a:avLst/>
          </a:prstGeom>
          <a:solidFill>
            <a:srgbClr val="2B5A7E"/>
          </a:solidFill>
          <a:ln/>
        </p:spPr>
      </p:sp>
      <p:sp>
        <p:nvSpPr>
          <p:cNvPr id="23" name="Shape 21"/>
          <p:cNvSpPr/>
          <p:nvPr/>
        </p:nvSpPr>
        <p:spPr>
          <a:xfrm>
            <a:off x="7353300" y="2523744"/>
            <a:ext cx="2122714" cy="109728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24" name="Text 22"/>
          <p:cNvSpPr/>
          <p:nvPr/>
        </p:nvSpPr>
        <p:spPr>
          <a:xfrm>
            <a:off x="9567454" y="249631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2C2C"/>
                </a:solidFill>
              </a:rPr>
              <a:t>68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65760" y="288036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C2C2C"/>
                </a:solidFill>
              </a:rPr>
              <a:t>inursha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2103120" y="2907792"/>
            <a:ext cx="4853940" cy="109728"/>
          </a:xfrm>
          <a:prstGeom prst="rect">
            <a:avLst/>
          </a:prstGeom>
          <a:solidFill>
            <a:srgbClr val="2B5A7E"/>
          </a:solidFill>
          <a:ln/>
        </p:spPr>
      </p:sp>
      <p:sp>
        <p:nvSpPr>
          <p:cNvPr id="27" name="Shape 25"/>
          <p:cNvSpPr/>
          <p:nvPr/>
        </p:nvSpPr>
        <p:spPr>
          <a:xfrm>
            <a:off x="6957060" y="2907792"/>
            <a:ext cx="4669971" cy="109728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28" name="Text 26"/>
          <p:cNvSpPr/>
          <p:nvPr/>
        </p:nvSpPr>
        <p:spPr>
          <a:xfrm>
            <a:off x="11718471" y="2880360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2C2C"/>
                </a:solidFill>
              </a:rPr>
              <a:t>82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65760" y="3264408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C2C2C"/>
                </a:solidFill>
              </a:rPr>
              <a:t>ESPNFAN8289368577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103120" y="3291840"/>
            <a:ext cx="5349240" cy="109728"/>
          </a:xfrm>
          <a:prstGeom prst="rect">
            <a:avLst/>
          </a:prstGeom>
          <a:solidFill>
            <a:srgbClr val="2B5A7E"/>
          </a:solidFill>
          <a:ln/>
        </p:spPr>
      </p:sp>
      <p:sp>
        <p:nvSpPr>
          <p:cNvPr id="31" name="Shape 29"/>
          <p:cNvSpPr/>
          <p:nvPr/>
        </p:nvSpPr>
        <p:spPr>
          <a:xfrm>
            <a:off x="7452360" y="3291840"/>
            <a:ext cx="3962400" cy="109728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32" name="Text 30"/>
          <p:cNvSpPr/>
          <p:nvPr/>
        </p:nvSpPr>
        <p:spPr>
          <a:xfrm>
            <a:off x="11506200" y="3264408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2C2C"/>
                </a:solidFill>
              </a:rPr>
              <a:t>82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365760" y="364845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C2C2C"/>
                </a:solidFill>
              </a:rPr>
              <a:t>ESPNFAN9699154365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2103120" y="3675888"/>
            <a:ext cx="4358640" cy="109728"/>
          </a:xfrm>
          <a:prstGeom prst="rect">
            <a:avLst/>
          </a:prstGeom>
          <a:solidFill>
            <a:srgbClr val="2B5A7E"/>
          </a:solidFill>
          <a:ln/>
        </p:spPr>
      </p:sp>
      <p:sp>
        <p:nvSpPr>
          <p:cNvPr id="35" name="Shape 33"/>
          <p:cNvSpPr/>
          <p:nvPr/>
        </p:nvSpPr>
        <p:spPr>
          <a:xfrm>
            <a:off x="6461760" y="3675888"/>
            <a:ext cx="6085114" cy="109728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36" name="Text 34"/>
          <p:cNvSpPr/>
          <p:nvPr/>
        </p:nvSpPr>
        <p:spPr>
          <a:xfrm>
            <a:off x="12638314" y="3648456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2C2C"/>
                </a:solidFill>
              </a:rPr>
              <a:t>87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365760" y="4114800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2C2C"/>
                </a:solidFill>
              </a:rPr>
              <a:t>Favorites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1280160" y="4160520"/>
            <a:ext cx="137160" cy="137160"/>
          </a:xfrm>
          <a:prstGeom prst="rect">
            <a:avLst/>
          </a:prstGeom>
          <a:solidFill>
            <a:srgbClr val="2B5A7E"/>
          </a:solidFill>
          <a:ln/>
        </p:spPr>
      </p:sp>
      <p:sp>
        <p:nvSpPr>
          <p:cNvPr id="39" name="Text 37"/>
          <p:cNvSpPr/>
          <p:nvPr/>
        </p:nvSpPr>
        <p:spPr>
          <a:xfrm>
            <a:off x="1554480" y="4114800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2C2C"/>
                </a:solidFill>
              </a:rPr>
              <a:t>Underdogs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2468880" y="4160520"/>
            <a:ext cx="137160" cy="137160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41" name="Text 39"/>
          <p:cNvSpPr/>
          <p:nvPr/>
        </p:nvSpPr>
        <p:spPr>
          <a:xfrm>
            <a:off x="274320" y="4800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Powered by Claude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841248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13 / 17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DC1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371600" y="22860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Swing Games — Key Toss-Ups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371600" y="658368"/>
            <a:ext cx="7315200" cy="18288"/>
          </a:xfrm>
          <a:prstGeom prst="rect">
            <a:avLst/>
          </a:prstGeom>
          <a:solidFill>
            <a:srgbClr val="DC1A41"/>
          </a:solidFill>
          <a:ln/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14400"/>
          <a:ext cx="8412480" cy="3474720"/>
        </p:xfrm>
        <a:graphic>
          <a:graphicData uri="http://schemas.openxmlformats.org/drawingml/2006/table">
            <a:tbl>
              <a:tblPr/>
              <a:tblGrid>
                <a:gridCol w="4114800"/>
                <a:gridCol w="1097280"/>
                <a:gridCol w="1600200"/>
                <a:gridCol w="1600200"/>
              </a:tblGrid>
              <a:tr h="4963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MATCHUP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SPLIT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TEAM A PICKS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TEAM B PICKS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Texas A&amp;M vs Saint Mary's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4-4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Miami vs Missouri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4-4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Akron vs Texas Tech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4-4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Arkansas vs Wisconsin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4-4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Gonzaga vs Purdue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4-4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TCU vs Ohio State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3-5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C2C2C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4800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Powered by Claude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41248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14 / 17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DC1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005840" y="2286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Champion Dependency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371600" y="658368"/>
            <a:ext cx="7315200" cy="18288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96012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6B6B"/>
                </a:solidFill>
              </a:rPr>
              <a:t>Percentage of ceiling ceiling that depends on champion winning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5760" y="1371600"/>
            <a:ext cx="19659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1371600"/>
            <a:ext cx="73152" cy="1280160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8" name="Text 6"/>
          <p:cNvSpPr/>
          <p:nvPr/>
        </p:nvSpPr>
        <p:spPr>
          <a:xfrm>
            <a:off x="475488" y="1481328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2C2C"/>
                </a:solidFill>
              </a:rPr>
              <a:t>TaylorDuran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75488" y="173736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</a:rPr>
              <a:t>Arizona Wildcats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75488" y="205740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1A41"/>
                </a:solidFill>
              </a:rPr>
              <a:t>79% ceiling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423160" y="1371600"/>
            <a:ext cx="19659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423160" y="1371600"/>
            <a:ext cx="73152" cy="1280160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13" name="Text 11"/>
          <p:cNvSpPr/>
          <p:nvPr/>
        </p:nvSpPr>
        <p:spPr>
          <a:xfrm>
            <a:off x="2532888" y="1481328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2C2C"/>
                </a:solidFill>
              </a:rPr>
              <a:t>Fizzz3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532888" y="173736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</a:rPr>
              <a:t>Arizona Wildcats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532888" y="205740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1A41"/>
                </a:solidFill>
              </a:rPr>
              <a:t>78% ceiling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480560" y="1371600"/>
            <a:ext cx="19659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480560" y="1371600"/>
            <a:ext cx="73152" cy="1280160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18" name="Text 16"/>
          <p:cNvSpPr/>
          <p:nvPr/>
        </p:nvSpPr>
        <p:spPr>
          <a:xfrm>
            <a:off x="4590288" y="1481328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2C2C"/>
                </a:solidFill>
              </a:rPr>
              <a:t>Capn'Kirk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90288" y="173736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</a:rPr>
              <a:t>Duke Blue Devils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590288" y="205740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1A41"/>
                </a:solidFill>
              </a:rPr>
              <a:t>82% ceiling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537960" y="1371600"/>
            <a:ext cx="19659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37960" y="1371600"/>
            <a:ext cx="73152" cy="1280160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23" name="Text 21"/>
          <p:cNvSpPr/>
          <p:nvPr/>
        </p:nvSpPr>
        <p:spPr>
          <a:xfrm>
            <a:off x="6647688" y="1481328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2C2C"/>
                </a:solidFill>
              </a:rPr>
              <a:t>Paul233365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647688" y="173736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</a:rPr>
              <a:t>Arizona Wildcats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647688" y="205740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1A41"/>
                </a:solidFill>
              </a:rPr>
              <a:t>77% ceiling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65760" y="2834640"/>
            <a:ext cx="19659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834640"/>
            <a:ext cx="73152" cy="1280160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28" name="Text 26"/>
          <p:cNvSpPr/>
          <p:nvPr/>
        </p:nvSpPr>
        <p:spPr>
          <a:xfrm>
            <a:off x="475488" y="2944368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2C2C"/>
                </a:solidFill>
              </a:rPr>
              <a:t>twnutt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75488" y="320040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</a:rPr>
              <a:t>Duke Blue Devils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75488" y="352044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1A41"/>
                </a:solidFill>
              </a:rPr>
              <a:t>88% ceiling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2423160" y="2834640"/>
            <a:ext cx="19659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423160" y="2834640"/>
            <a:ext cx="73152" cy="1280160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33" name="Text 31"/>
          <p:cNvSpPr/>
          <p:nvPr/>
        </p:nvSpPr>
        <p:spPr>
          <a:xfrm>
            <a:off x="2532888" y="2944368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2C2C"/>
                </a:solidFill>
              </a:rPr>
              <a:t>inursha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2532888" y="320040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</a:rPr>
              <a:t>Duke Blue Devils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2532888" y="352044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1A41"/>
                </a:solidFill>
              </a:rPr>
              <a:t>77% ceiling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480560" y="2834640"/>
            <a:ext cx="19659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80560" y="2834640"/>
            <a:ext cx="73152" cy="1280160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38" name="Text 36"/>
          <p:cNvSpPr/>
          <p:nvPr/>
        </p:nvSpPr>
        <p:spPr>
          <a:xfrm>
            <a:off x="4590288" y="2944368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2C2C"/>
                </a:solidFill>
              </a:rPr>
              <a:t>ESPNFAN8289368577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590288" y="320040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</a:rPr>
              <a:t>Duke Blue Devils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4590288" y="352044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1A41"/>
                </a:solidFill>
              </a:rPr>
              <a:t>76% ceiling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537960" y="2834640"/>
            <a:ext cx="19659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37960" y="2834640"/>
            <a:ext cx="73152" cy="1280160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43" name="Text 41"/>
          <p:cNvSpPr/>
          <p:nvPr/>
        </p:nvSpPr>
        <p:spPr>
          <a:xfrm>
            <a:off x="6647688" y="2944368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2C2C"/>
                </a:solidFill>
              </a:rPr>
              <a:t>ESPNFAN9699154365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647688" y="320040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B6B"/>
                </a:solidFill>
              </a:rPr>
              <a:t>Duke Blue Devils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6647688" y="352044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1A41"/>
                </a:solidFill>
              </a:rPr>
              <a:t>84% ceiling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274320" y="4800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Powered by Claude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841248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15 / 17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DC1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005840" y="2286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2C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Elimination Tracker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371600" y="658368"/>
            <a:ext cx="7315200" cy="18288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96012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C2C2C"/>
                </a:solidFill>
              </a:rPr>
              <a:t>TaylorDuran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103120" y="987552"/>
            <a:ext cx="6400800" cy="228600"/>
          </a:xfrm>
          <a:prstGeom prst="rect">
            <a:avLst/>
          </a:prstGeom>
          <a:solidFill>
            <a:srgbClr val="2B5A7E"/>
          </a:solidFill>
          <a:ln/>
        </p:spPr>
      </p:sp>
      <p:sp>
        <p:nvSpPr>
          <p:cNvPr id="7" name="Shape 5"/>
          <p:cNvSpPr/>
          <p:nvPr/>
        </p:nvSpPr>
        <p:spPr>
          <a:xfrm>
            <a:off x="8503920" y="987552"/>
            <a:ext cx="6212541" cy="228600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8" name="Text 6"/>
          <p:cNvSpPr/>
          <p:nvPr/>
        </p:nvSpPr>
        <p:spPr>
          <a:xfrm>
            <a:off x="14807901" y="960120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2C2C"/>
                </a:solidFill>
              </a:rPr>
              <a:t>1770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365760" y="1344168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C2C2C"/>
                </a:solidFill>
              </a:rPr>
              <a:t>Fizzz3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103120" y="1371600"/>
            <a:ext cx="6258560" cy="228600"/>
          </a:xfrm>
          <a:prstGeom prst="rect">
            <a:avLst/>
          </a:prstGeom>
          <a:solidFill>
            <a:srgbClr val="2B5A7E"/>
          </a:solidFill>
          <a:ln/>
        </p:spPr>
      </p:sp>
      <p:sp>
        <p:nvSpPr>
          <p:cNvPr id="11" name="Shape 9"/>
          <p:cNvSpPr/>
          <p:nvPr/>
        </p:nvSpPr>
        <p:spPr>
          <a:xfrm>
            <a:off x="8361680" y="1371600"/>
            <a:ext cx="6212541" cy="228600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12" name="Text 10"/>
          <p:cNvSpPr/>
          <p:nvPr/>
        </p:nvSpPr>
        <p:spPr>
          <a:xfrm>
            <a:off x="14665661" y="1344168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2C2C"/>
                </a:solidFill>
              </a:rPr>
              <a:t>1760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65760" y="172821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C2C2C"/>
                </a:solidFill>
              </a:rPr>
              <a:t>Capn'Kirk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103120" y="1755648"/>
            <a:ext cx="6116320" cy="228600"/>
          </a:xfrm>
          <a:prstGeom prst="rect">
            <a:avLst/>
          </a:prstGeom>
          <a:solidFill>
            <a:srgbClr val="2B5A7E"/>
          </a:solidFill>
          <a:ln/>
        </p:spPr>
      </p:sp>
      <p:sp>
        <p:nvSpPr>
          <p:cNvPr id="15" name="Shape 13"/>
          <p:cNvSpPr/>
          <p:nvPr/>
        </p:nvSpPr>
        <p:spPr>
          <a:xfrm>
            <a:off x="8219440" y="1755648"/>
            <a:ext cx="6400800" cy="228600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16" name="Text 14"/>
          <p:cNvSpPr/>
          <p:nvPr/>
        </p:nvSpPr>
        <p:spPr>
          <a:xfrm>
            <a:off x="14711680" y="1728216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2C2C"/>
                </a:solidFill>
              </a:rPr>
              <a:t>1790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65760" y="2112264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C2C2C"/>
                </a:solidFill>
              </a:rPr>
              <a:t>Paul233365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2103120" y="2139696"/>
            <a:ext cx="5689600" cy="228600"/>
          </a:xfrm>
          <a:prstGeom prst="rect">
            <a:avLst/>
          </a:prstGeom>
          <a:solidFill>
            <a:srgbClr val="2B5A7E"/>
          </a:solidFill>
          <a:ln/>
        </p:spPr>
      </p:sp>
      <p:sp>
        <p:nvSpPr>
          <p:cNvPr id="19" name="Shape 17"/>
          <p:cNvSpPr/>
          <p:nvPr/>
        </p:nvSpPr>
        <p:spPr>
          <a:xfrm>
            <a:off x="7792720" y="2139696"/>
            <a:ext cx="6400800" cy="228600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20" name="Text 18"/>
          <p:cNvSpPr/>
          <p:nvPr/>
        </p:nvSpPr>
        <p:spPr>
          <a:xfrm>
            <a:off x="14284960" y="2112264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2C2C"/>
                </a:solidFill>
              </a:rPr>
              <a:t>1760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65760" y="2496312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C2C2C"/>
                </a:solidFill>
              </a:rPr>
              <a:t>twnutt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103120" y="2523744"/>
            <a:ext cx="5547360" cy="228600"/>
          </a:xfrm>
          <a:prstGeom prst="rect">
            <a:avLst/>
          </a:prstGeom>
          <a:solidFill>
            <a:srgbClr val="2B5A7E"/>
          </a:solidFill>
          <a:ln/>
        </p:spPr>
      </p:sp>
      <p:sp>
        <p:nvSpPr>
          <p:cNvPr id="23" name="Shape 21"/>
          <p:cNvSpPr/>
          <p:nvPr/>
        </p:nvSpPr>
        <p:spPr>
          <a:xfrm>
            <a:off x="7650480" y="2523744"/>
            <a:ext cx="6306671" cy="228600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24" name="Text 22"/>
          <p:cNvSpPr/>
          <p:nvPr/>
        </p:nvSpPr>
        <p:spPr>
          <a:xfrm>
            <a:off x="14048591" y="2496312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2C2C"/>
                </a:solidFill>
              </a:rPr>
              <a:t>1730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65760" y="2880360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C2C2C"/>
                </a:solidFill>
              </a:rPr>
              <a:t>inursha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2103120" y="2907792"/>
            <a:ext cx="4836160" cy="228600"/>
          </a:xfrm>
          <a:prstGeom prst="rect">
            <a:avLst/>
          </a:prstGeom>
          <a:solidFill>
            <a:srgbClr val="2B5A7E"/>
          </a:solidFill>
          <a:ln/>
        </p:spPr>
      </p:sp>
      <p:sp>
        <p:nvSpPr>
          <p:cNvPr id="27" name="Shape 25"/>
          <p:cNvSpPr/>
          <p:nvPr/>
        </p:nvSpPr>
        <p:spPr>
          <a:xfrm>
            <a:off x="6939280" y="2907792"/>
            <a:ext cx="6400800" cy="228600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28" name="Text 26"/>
          <p:cNvSpPr/>
          <p:nvPr/>
        </p:nvSpPr>
        <p:spPr>
          <a:xfrm>
            <a:off x="13431520" y="2880360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2C2C"/>
                </a:solidFill>
              </a:rPr>
              <a:t>1700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65760" y="3264408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C2C2C"/>
                </a:solidFill>
              </a:rPr>
              <a:t>ESPNFAN8289368577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103120" y="3291840"/>
            <a:ext cx="4836160" cy="228600"/>
          </a:xfrm>
          <a:prstGeom prst="rect">
            <a:avLst/>
          </a:prstGeom>
          <a:solidFill>
            <a:srgbClr val="2B5A7E"/>
          </a:solidFill>
          <a:ln/>
        </p:spPr>
      </p:sp>
      <p:sp>
        <p:nvSpPr>
          <p:cNvPr id="31" name="Shape 29"/>
          <p:cNvSpPr/>
          <p:nvPr/>
        </p:nvSpPr>
        <p:spPr>
          <a:xfrm>
            <a:off x="6939280" y="3291840"/>
            <a:ext cx="5082988" cy="228600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32" name="Text 30"/>
          <p:cNvSpPr/>
          <p:nvPr/>
        </p:nvSpPr>
        <p:spPr>
          <a:xfrm>
            <a:off x="12113708" y="3264408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2C2C"/>
                </a:solidFill>
              </a:rPr>
              <a:t>1420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365760" y="3648456"/>
            <a:ext cx="1645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2C2C2C"/>
                </a:solidFill>
              </a:rPr>
              <a:t>ESPNFAN9699154365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2103120" y="3675888"/>
            <a:ext cx="4409440" cy="228600"/>
          </a:xfrm>
          <a:prstGeom prst="rect">
            <a:avLst/>
          </a:prstGeom>
          <a:solidFill>
            <a:srgbClr val="2B5A7E"/>
          </a:solidFill>
          <a:ln/>
        </p:spPr>
      </p:sp>
      <p:sp>
        <p:nvSpPr>
          <p:cNvPr id="35" name="Shape 33"/>
          <p:cNvSpPr/>
          <p:nvPr/>
        </p:nvSpPr>
        <p:spPr>
          <a:xfrm>
            <a:off x="6512560" y="3675888"/>
            <a:ext cx="6400800" cy="228600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36" name="Text 34"/>
          <p:cNvSpPr/>
          <p:nvPr/>
        </p:nvSpPr>
        <p:spPr>
          <a:xfrm>
            <a:off x="13004800" y="3648456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2C2C"/>
                </a:solidFill>
              </a:rPr>
              <a:t>1670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365760" y="411480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2C2C"/>
                </a:solidFill>
              </a:rPr>
              <a:t>Current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1143000" y="4160520"/>
            <a:ext cx="137160" cy="137160"/>
          </a:xfrm>
          <a:prstGeom prst="rect">
            <a:avLst/>
          </a:prstGeom>
          <a:solidFill>
            <a:srgbClr val="2B5A7E"/>
          </a:solidFill>
          <a:ln/>
        </p:spPr>
      </p:sp>
      <p:sp>
        <p:nvSpPr>
          <p:cNvPr id="39" name="Text 37"/>
          <p:cNvSpPr/>
          <p:nvPr/>
        </p:nvSpPr>
        <p:spPr>
          <a:xfrm>
            <a:off x="1417320" y="4114800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2C2C"/>
                </a:solidFill>
              </a:rPr>
              <a:t>Remaining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2331720" y="4160520"/>
            <a:ext cx="137160" cy="137160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41" name="Text 39"/>
          <p:cNvSpPr/>
          <p:nvPr/>
        </p:nvSpPr>
        <p:spPr>
          <a:xfrm>
            <a:off x="274320" y="4800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Powered by Claude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841248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16 / 17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3C3C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DC1A4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DC1A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On.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457200" y="2514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999999"/>
                </a:solidFill>
              </a:rPr>
              <a:t>The bracket race continues.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44805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99999"/>
                </a:solidFill>
              </a:rPr>
              <a:t>Updated Mar 22, 2026 · ESPN Tournament Challenge · 8 entries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72400" y="44805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</a:rPr>
              <a:t>Built with Claude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41248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</a:rPr>
              <a:t>17 / 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2026-03-23T00:58:23Z</dcterms:created>
  <dcterms:modified xsi:type="dcterms:W3CDTF">2026-03-23T00:58:23Z</dcterms:modified>
</cp:coreProperties>
</file>